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85"/>
  </p:normalViewPr>
  <p:slideViewPr>
    <p:cSldViewPr snapToGrid="0" snapToObjects="1">
      <p:cViewPr varScale="1">
        <p:scale>
          <a:sx n="95" d="100"/>
          <a:sy n="95" d="100"/>
        </p:scale>
        <p:origin x="200" y="6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921E0E-DE1B-9347-A121-48973B72EFF0}" type="datetimeFigureOut">
              <a:rPr lang="en-US" smtClean="0"/>
              <a:t>5/12/26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DECD00-F462-4A45-8B7F-EC817A803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615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DECD00-F462-4A45-8B7F-EC817A80392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028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90E24"/>
              </a:gs>
              <a:gs pos="55000">
                <a:srgbClr val="1A1868"/>
              </a:gs>
              <a:gs pos="100000">
                <a:srgbClr val="073F52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126480" y="-731520"/>
            <a:ext cx="7315200" cy="7315200"/>
          </a:xfrm>
          <a:prstGeom prst="ellipse">
            <a:avLst/>
          </a:prstGeom>
          <a:noFill/>
          <a:ln w="12700">
            <a:solidFill>
              <a:srgbClr val="6E7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223760" y="365760"/>
            <a:ext cx="5120640" cy="5120640"/>
          </a:xfrm>
          <a:prstGeom prst="ellipse">
            <a:avLst/>
          </a:prstGeom>
          <a:noFill/>
          <a:ln w="12700">
            <a:solidFill>
              <a:srgbClr val="B19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138160" y="1280160"/>
            <a:ext cx="3291840" cy="3291840"/>
          </a:xfrm>
          <a:prstGeom prst="ellipse">
            <a:avLst/>
          </a:prstGeom>
          <a:noFill/>
          <a:ln w="12700">
            <a:solidFill>
              <a:srgbClr val="29D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300" dirty="0">
                <a:solidFill>
                  <a:srgbClr val="29DBF4"/>
                </a:solidFill>
                <a:latin typeface="Montserrat"/>
              </a:rPr>
              <a:t>M.TECH CLOUD COMPUTING  ·  WILP DISSERTATION CCZG628T  ·  FINAL </a:t>
            </a:r>
            <a:r>
              <a:rPr lang="en-US" sz="1200" b="1" i="0" spc="300" dirty="0">
                <a:solidFill>
                  <a:srgbClr val="29DBF4"/>
                </a:solidFill>
                <a:latin typeface="Montserrat"/>
              </a:rPr>
              <a:t>TERM</a:t>
            </a:r>
            <a:endParaRPr sz="1200" b="1" i="0" spc="300" dirty="0">
              <a:solidFill>
                <a:srgbClr val="29DBF4"/>
              </a:solidFill>
              <a:latin typeface="Montserra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109728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1" i="0">
                <a:solidFill>
                  <a:srgbClr val="F8FAFC"/>
                </a:solidFill>
                <a:latin typeface="Montserrat"/>
              </a:rPr>
              <a:t>Semantic Reconstruction</a:t>
            </a:r>
          </a:p>
          <a:p>
            <a:pPr algn="l">
              <a:lnSpc>
                <a:spcPct val="105000"/>
              </a:lnSpc>
            </a:pPr>
            <a:r>
              <a:rPr sz="5200" b="1" i="0">
                <a:solidFill>
                  <a:srgbClr val="F8FAFC"/>
                </a:solidFill>
                <a:latin typeface="Montserrat"/>
              </a:rPr>
              <a:t>of Software Intent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375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 i="1">
                <a:solidFill>
                  <a:srgbClr val="CCD6E3"/>
                </a:solidFill>
                <a:latin typeface="Inter"/>
              </a:rPr>
              <a:t>A Cloud-Hosted Agentic AI Solution for the Study of</a:t>
            </a:r>
          </a:p>
          <a:p>
            <a:pPr algn="l">
              <a:lnSpc>
                <a:spcPct val="125000"/>
              </a:lnSpc>
            </a:pPr>
            <a:r>
              <a:rPr sz="2000" b="0" i="1">
                <a:solidFill>
                  <a:srgbClr val="CCD6E3"/>
                </a:solidFill>
                <a:latin typeface="Inter"/>
              </a:rPr>
              <a:t>Requirement Traceability in Production-Grade Codebases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754880"/>
            <a:ext cx="3108960" cy="57150"/>
          </a:xfrm>
          <a:prstGeom prst="rect">
            <a:avLst/>
          </a:prstGeom>
          <a:gradFill flip="none" rotWithShape="1">
            <a:gsLst>
              <a:gs pos="0">
                <a:srgbClr val="29DBF4"/>
              </a:gs>
              <a:gs pos="60000">
                <a:srgbClr val="6E70F6"/>
              </a:gs>
              <a:gs pos="100000">
                <a:srgbClr val="B196FB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4983480"/>
            <a:ext cx="5486400" cy="1371600"/>
          </a:xfrm>
          <a:prstGeom prst="roundRect">
            <a:avLst>
              <a:gd name="adj" fmla="val 10000"/>
            </a:avLst>
          </a:prstGeom>
          <a:solidFill>
            <a:srgbClr val="10183A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507492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29DBF4"/>
                </a:solidFill>
                <a:latin typeface="Montserrat"/>
              </a:rPr>
              <a:t>CANDIDATE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8FAFC"/>
                </a:solidFill>
                <a:latin typeface="Montserrat"/>
              </a:rPr>
              <a:t>Aarya Nanndaann Singh M 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71500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CCD6E3"/>
                </a:solidFill>
                <a:latin typeface="JetBrains Mono"/>
              </a:rPr>
              <a:t>BITS ID  ·  2024MT03013   |   M.Tech Cloud Computing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98932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96A5BA"/>
                </a:solidFill>
                <a:latin typeface="Inter"/>
              </a:rPr>
              <a:t>Aqueralabs India Pvt Ltd, Bangalore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983480"/>
            <a:ext cx="5029200" cy="1371600"/>
          </a:xfrm>
          <a:prstGeom prst="roundRect">
            <a:avLst>
              <a:gd name="adj" fmla="val 10000"/>
            </a:avLst>
          </a:prstGeom>
          <a:solidFill>
            <a:srgbClr val="10183A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507492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B196FB"/>
                </a:solidFill>
                <a:latin typeface="Montserrat"/>
              </a:rPr>
              <a:t>SUPERVISOR  ·  EXAMINER  ·  MENTOR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5349240"/>
            <a:ext cx="46634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Inter"/>
              </a:rPr>
              <a:t>Mr. Hanumanthu Indrakanti — Director of Engineering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5650992"/>
            <a:ext cx="46634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Inter"/>
              </a:rPr>
              <a:t>Mr. Deepan Kumar — Staff Engineer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5952744"/>
            <a:ext cx="46634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Inter"/>
              </a:rPr>
              <a:t>Mr. Paresh Saxena — BITS Pilani Faculty Mentor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46520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spc="150">
                <a:solidFill>
                  <a:srgbClr val="96A5BA"/>
                </a:solidFill>
                <a:latin typeface="Inter"/>
              </a:rPr>
              <a:t>Birla Institute of Technology and Science, Pilani  ·  WILP Division  ·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90E24"/>
              </a:gs>
              <a:gs pos="100000">
                <a:srgbClr val="121B42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gradFill flip="none" rotWithShape="1">
            <a:gsLst>
              <a:gs pos="0">
                <a:srgbClr val="29DBF4"/>
              </a:gs>
              <a:gs pos="100000">
                <a:srgbClr val="6E70F6"/>
              </a:gs>
            </a:gsLst>
            <a:lin ang="54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293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91440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dirty="0" err="1">
                <a:solidFill>
                  <a:srgbClr val="96A5BA"/>
                </a:solidFill>
                <a:latin typeface="Inter"/>
              </a:rPr>
              <a:t>IntentEra</a:t>
            </a:r>
            <a:r>
              <a:rPr sz="1000" b="0" i="0" dirty="0">
                <a:solidFill>
                  <a:srgbClr val="96A5BA"/>
                </a:solidFill>
                <a:latin typeface="Inter"/>
              </a:rPr>
              <a:t>  ·  Final </a:t>
            </a:r>
            <a:r>
              <a:rPr lang="en-US" sz="1000" b="0" i="0" dirty="0">
                <a:solidFill>
                  <a:srgbClr val="96A5BA"/>
                </a:solidFill>
                <a:latin typeface="Inter"/>
              </a:rPr>
              <a:t>Term </a:t>
            </a:r>
            <a:r>
              <a:rPr sz="1000" b="0" i="0" dirty="0">
                <a:solidFill>
                  <a:srgbClr val="96A5BA"/>
                </a:solidFill>
                <a:latin typeface="Inter"/>
              </a:rPr>
              <a:t> ·  Agenda</a:t>
            </a:r>
            <a:r>
              <a:rPr lang="en-US" sz="1000" b="0" i="0" dirty="0">
                <a:solidFill>
                  <a:srgbClr val="96A5BA"/>
                </a:solidFill>
                <a:latin typeface="Inter"/>
              </a:rPr>
              <a:t> – Aarya Nanndaann Singh M N (2024MT03013)</a:t>
            </a:r>
            <a:endParaRPr sz="1000" b="0" i="0" dirty="0">
              <a:solidFill>
                <a:srgbClr val="96A5BA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0" y="656539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6A5BA"/>
                </a:solidFill>
                <a:latin typeface="JetBrains Mono"/>
              </a:rPr>
              <a:t>02 /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9DBF4"/>
                </a:solidFill>
                <a:latin typeface="Montserrat"/>
              </a:rPr>
              <a:t>ROADMAP  ·  6 SECTIONS  ·  ~28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31520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  <a:latin typeface="Montserrat"/>
              </a:rPr>
              <a:t>What we will cover today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08760"/>
            <a:ext cx="2194560" cy="38100"/>
          </a:xfrm>
          <a:prstGeom prst="rect">
            <a:avLst/>
          </a:prstGeom>
          <a:gradFill flip="none" rotWithShape="1">
            <a:gsLst>
              <a:gs pos="0">
                <a:srgbClr val="29DBF4"/>
              </a:gs>
              <a:gs pos="100000">
                <a:srgbClr val="6E70F6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6275" y="1828800"/>
            <a:ext cx="3703320" cy="2240280"/>
          </a:xfrm>
          <a:prstGeom prst="roundRect">
            <a:avLst>
              <a:gd name="adj" fmla="val 8000"/>
            </a:avLst>
          </a:prstGeom>
          <a:solidFill>
            <a:srgbClr val="18244D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76275" y="1828800"/>
            <a:ext cx="3703320" cy="45720"/>
          </a:xfrm>
          <a:prstGeom prst="rect">
            <a:avLst/>
          </a:prstGeom>
          <a:gradFill flip="none" rotWithShape="1">
            <a:gsLst>
              <a:gs pos="0">
                <a:srgbClr val="29DBF4"/>
              </a:gs>
              <a:gs pos="100000">
                <a:srgbClr val="6E70F6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4875" y="2029968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9DBF4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4875" y="2670048"/>
            <a:ext cx="3246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Montserrat"/>
              </a:rPr>
              <a:t>The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4875" y="3154680"/>
            <a:ext cx="3246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CD6E3"/>
                </a:solidFill>
                <a:latin typeface="Inter"/>
              </a:rPr>
              <a:t>Intent erosion in production codebases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CD6E3"/>
                </a:solidFill>
                <a:latin typeface="Inter"/>
              </a:rPr>
              <a:t>Why code-only is not enough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44187" y="1828800"/>
            <a:ext cx="3703320" cy="2240280"/>
          </a:xfrm>
          <a:prstGeom prst="roundRect">
            <a:avLst>
              <a:gd name="adj" fmla="val 8000"/>
            </a:avLst>
          </a:prstGeom>
          <a:solidFill>
            <a:srgbClr val="18244D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44187" y="1828800"/>
            <a:ext cx="3703320" cy="45720"/>
          </a:xfrm>
          <a:prstGeom prst="rect">
            <a:avLst/>
          </a:prstGeom>
          <a:gradFill flip="none" rotWithShape="1">
            <a:gsLst>
              <a:gs pos="0">
                <a:srgbClr val="6E70F6"/>
              </a:gs>
              <a:gs pos="100000">
                <a:srgbClr val="6E70F6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72787" y="2029968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6E70F6"/>
                </a:solidFill>
                <a:latin typeface="Montserrat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2787" y="2670048"/>
            <a:ext cx="3246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Montserrat"/>
              </a:rPr>
              <a:t>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2787" y="3154680"/>
            <a:ext cx="3246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CD6E3"/>
                </a:solidFill>
                <a:latin typeface="Inter"/>
              </a:rPr>
              <a:t>Five-layer reference architecture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CD6E3"/>
                </a:solidFill>
                <a:latin typeface="Inter"/>
              </a:rPr>
              <a:t>On AWS + MongoDB Atlas + OpenAI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2099" y="1828800"/>
            <a:ext cx="3703320" cy="2240280"/>
          </a:xfrm>
          <a:prstGeom prst="roundRect">
            <a:avLst>
              <a:gd name="adj" fmla="val 8000"/>
            </a:avLst>
          </a:prstGeom>
          <a:solidFill>
            <a:srgbClr val="18244D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12099" y="1828800"/>
            <a:ext cx="3703320" cy="45720"/>
          </a:xfrm>
          <a:prstGeom prst="rect">
            <a:avLst/>
          </a:prstGeom>
          <a:gradFill flip="none" rotWithShape="1">
            <a:gsLst>
              <a:gs pos="0">
                <a:srgbClr val="B196FB"/>
              </a:gs>
              <a:gs pos="100000">
                <a:srgbClr val="6E70F6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40699" y="2029968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B196FB"/>
                </a:solidFill>
                <a:latin typeface="Montserrat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0699" y="2670048"/>
            <a:ext cx="3246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Montserrat"/>
              </a:rPr>
              <a:t>Chunking, Embeddings, Retrieval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0699" y="3154680"/>
            <a:ext cx="3246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CD6E3"/>
                </a:solidFill>
                <a:latin typeface="Inter"/>
              </a:rPr>
              <a:t>Section-aware chunks · 1536-d embeddings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CD6E3"/>
                </a:solidFill>
                <a:latin typeface="Inter"/>
              </a:rPr>
              <a:t>Multi-query RAG with max-pool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6275" y="4343400"/>
            <a:ext cx="3703320" cy="2083272"/>
          </a:xfrm>
          <a:prstGeom prst="roundRect">
            <a:avLst>
              <a:gd name="adj" fmla="val 8000"/>
            </a:avLst>
          </a:prstGeom>
          <a:solidFill>
            <a:srgbClr val="18244D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76275" y="4343400"/>
            <a:ext cx="3703320" cy="45720"/>
          </a:xfrm>
          <a:prstGeom prst="rect">
            <a:avLst/>
          </a:prstGeom>
          <a:gradFill flip="none" rotWithShape="1">
            <a:gsLst>
              <a:gs pos="0">
                <a:srgbClr val="36DCC4"/>
              </a:gs>
              <a:gs pos="100000">
                <a:srgbClr val="6E70F6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04875" y="4544568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36DCC4"/>
                </a:solidFill>
                <a:latin typeface="Montserrat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4875" y="5184648"/>
            <a:ext cx="3246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Montserrat"/>
              </a:rPr>
              <a:t>IDE Integration &amp; Cloud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4875" y="5669280"/>
            <a:ext cx="3246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CD6E3"/>
                </a:solidFill>
                <a:latin typeface="Inter"/>
              </a:rPr>
              <a:t>VS Code / Cursor extension + loopback git agent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CD6E3"/>
                </a:solidFill>
                <a:latin typeface="Inter"/>
              </a:rPr>
              <a:t>AWS Lambdas, EventBridge, Secrets Manager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44187" y="4343400"/>
            <a:ext cx="3703320" cy="2083272"/>
          </a:xfrm>
          <a:prstGeom prst="roundRect">
            <a:avLst>
              <a:gd name="adj" fmla="val 8000"/>
            </a:avLst>
          </a:prstGeom>
          <a:solidFill>
            <a:srgbClr val="18244D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244187" y="4343400"/>
            <a:ext cx="3703320" cy="45720"/>
          </a:xfrm>
          <a:prstGeom prst="rect">
            <a:avLst/>
          </a:prstGeom>
          <a:gradFill flip="none" rotWithShape="1">
            <a:gsLst>
              <a:gs pos="0">
                <a:srgbClr val="FBC029"/>
              </a:gs>
              <a:gs pos="100000">
                <a:srgbClr val="6E70F6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472787" y="4544568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BC029"/>
                </a:solidFill>
                <a:latin typeface="Montserrat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72787" y="5184648"/>
            <a:ext cx="3246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Montserrat"/>
              </a:rPr>
              <a:t>Evaluation &amp; Metrics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72787" y="5669280"/>
            <a:ext cx="3246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dirty="0">
                <a:solidFill>
                  <a:srgbClr val="CCD6E3"/>
                </a:solidFill>
                <a:latin typeface="Inter"/>
              </a:rPr>
              <a:t>Functional checks · retrieval quality</a:t>
            </a:r>
          </a:p>
          <a:p>
            <a:pPr algn="l">
              <a:lnSpc>
                <a:spcPct val="130000"/>
              </a:lnSpc>
            </a:pPr>
            <a:r>
              <a:rPr sz="1100" b="0" i="0" dirty="0">
                <a:solidFill>
                  <a:srgbClr val="CCD6E3"/>
                </a:solidFill>
                <a:latin typeface="Inter"/>
              </a:rPr>
              <a:t>Latency, cost and cognitive-load study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12099" y="4343400"/>
            <a:ext cx="3703320" cy="2083272"/>
          </a:xfrm>
          <a:prstGeom prst="roundRect">
            <a:avLst>
              <a:gd name="adj" fmla="val 8000"/>
            </a:avLst>
          </a:prstGeom>
          <a:solidFill>
            <a:srgbClr val="18244D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112099" y="4343400"/>
            <a:ext cx="3703320" cy="45720"/>
          </a:xfrm>
          <a:prstGeom prst="rect">
            <a:avLst/>
          </a:prstGeom>
          <a:gradFill flip="none" rotWithShape="1">
            <a:gsLst>
              <a:gs pos="0">
                <a:srgbClr val="3DDA9F"/>
              </a:gs>
              <a:gs pos="100000">
                <a:srgbClr val="6E70F6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40699" y="4544568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3DDA9F"/>
                </a:solidFill>
                <a:latin typeface="Montserrat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40699" y="5184648"/>
            <a:ext cx="3246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Montserrat"/>
              </a:rPr>
              <a:t>What's Next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40699" y="5669280"/>
            <a:ext cx="3246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CD6E3"/>
                </a:solidFill>
                <a:latin typeface="Inter"/>
              </a:rPr>
              <a:t>Honest limitations · current improvements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CD6E3"/>
                </a:solidFill>
                <a:latin typeface="Inter"/>
              </a:rPr>
              <a:t>Five directions for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90E24"/>
              </a:gs>
              <a:gs pos="50000">
                <a:srgbClr val="1B1455"/>
              </a:gs>
              <a:gs pos="100000">
                <a:srgbClr val="352986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-1371600" y="5029200"/>
            <a:ext cx="15087600" cy="548640"/>
          </a:xfrm>
          <a:prstGeom prst="parallelogram">
            <a:avLst>
              <a:gd name="adj" fmla="val 40000"/>
            </a:avLst>
          </a:prstGeom>
          <a:gradFill flip="none" rotWithShape="1">
            <a:gsLst>
              <a:gs pos="0">
                <a:srgbClr val="29DBF4"/>
              </a:gs>
              <a:gs pos="50000">
                <a:srgbClr val="6E70F6"/>
              </a:gs>
              <a:gs pos="100000">
                <a:srgbClr val="B196FB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300">
                <a:solidFill>
                  <a:srgbClr val="29DBF4"/>
                </a:solidFill>
                <a:latin typeface="Montserrat"/>
              </a:rPr>
              <a:t>SECTION 01  ·  CHAPTERS 1 &amp;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800" b="1" i="0">
                <a:solidFill>
                  <a:srgbClr val="F8FAFC"/>
                </a:solidFill>
                <a:latin typeface="Montserrat"/>
              </a:rPr>
              <a:t>The Problem.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519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1">
                <a:solidFill>
                  <a:srgbClr val="CCD6E3"/>
                </a:solidFill>
                <a:latin typeface="Inter"/>
              </a:rPr>
              <a:t>Source code answers what. The interesting question is why.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293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91440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 dirty="0" err="1">
                <a:solidFill>
                  <a:srgbClr val="96A5BA"/>
                </a:solidFill>
                <a:latin typeface="Inter"/>
              </a:rPr>
              <a:t>IntentEra</a:t>
            </a:r>
            <a:r>
              <a:rPr sz="1000" b="0" i="0" dirty="0">
                <a:solidFill>
                  <a:srgbClr val="96A5BA"/>
                </a:solidFill>
                <a:latin typeface="Inter"/>
              </a:rPr>
              <a:t>  ·  Final </a:t>
            </a:r>
            <a:r>
              <a:rPr lang="en-US" sz="1000" b="0" i="0" dirty="0">
                <a:solidFill>
                  <a:srgbClr val="96A5BA"/>
                </a:solidFill>
                <a:latin typeface="Inter"/>
              </a:rPr>
              <a:t>Term</a:t>
            </a:r>
            <a:r>
              <a:rPr sz="1000" b="0" i="0" dirty="0">
                <a:solidFill>
                  <a:srgbClr val="96A5BA"/>
                </a:solidFill>
                <a:latin typeface="Inter"/>
              </a:rPr>
              <a:t>  ·  The Problem</a:t>
            </a:r>
            <a:r>
              <a:rPr lang="en-US" sz="1000" dirty="0">
                <a:solidFill>
                  <a:srgbClr val="96A5BA"/>
                </a:solidFill>
                <a:latin typeface="Inter"/>
              </a:rPr>
              <a:t> – Aarya Nanndaann Singh M N (2024MT03013)</a:t>
            </a:r>
            <a:endParaRPr sz="1000" b="0" i="0" dirty="0">
              <a:solidFill>
                <a:srgbClr val="96A5BA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6A5BA"/>
                </a:solidFill>
                <a:latin typeface="JetBrains Mono"/>
              </a:rPr>
              <a:t>03 / 32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90E24"/>
              </a:gs>
              <a:gs pos="100000">
                <a:srgbClr val="121B42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gradFill flip="none" rotWithShape="1">
            <a:gsLst>
              <a:gs pos="0">
                <a:srgbClr val="29DBF4"/>
              </a:gs>
              <a:gs pos="100000">
                <a:srgbClr val="6E70F6"/>
              </a:gs>
            </a:gsLst>
            <a:lin ang="54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293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91440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 dirty="0" err="1">
                <a:solidFill>
                  <a:srgbClr val="96A5BA"/>
                </a:solidFill>
                <a:latin typeface="Inter"/>
              </a:rPr>
              <a:t>IntentEra</a:t>
            </a:r>
            <a:r>
              <a:rPr sz="1000" b="0" i="0" dirty="0">
                <a:solidFill>
                  <a:srgbClr val="96A5BA"/>
                </a:solidFill>
                <a:latin typeface="Inter"/>
              </a:rPr>
              <a:t>  ·  Final </a:t>
            </a:r>
            <a:r>
              <a:rPr lang="en-US" sz="1000" b="0" i="0" dirty="0">
                <a:solidFill>
                  <a:srgbClr val="96A5BA"/>
                </a:solidFill>
                <a:latin typeface="Inter"/>
              </a:rPr>
              <a:t>Term</a:t>
            </a:r>
            <a:r>
              <a:rPr sz="1000" b="0" i="0" dirty="0">
                <a:solidFill>
                  <a:srgbClr val="96A5BA"/>
                </a:solidFill>
                <a:latin typeface="Inter"/>
              </a:rPr>
              <a:t>  ·  The Problem · Ch 1.1</a:t>
            </a:r>
            <a:r>
              <a:rPr lang="en-US" sz="1000" dirty="0">
                <a:solidFill>
                  <a:srgbClr val="96A5BA"/>
                </a:solidFill>
                <a:latin typeface="Inter"/>
              </a:rPr>
              <a:t> – Aarya Nanndaann Singh M N (2024MT03013)</a:t>
            </a:r>
            <a:endParaRPr sz="1000" b="0" i="0" dirty="0">
              <a:solidFill>
                <a:srgbClr val="96A5BA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0" y="656539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6A5BA"/>
                </a:solidFill>
                <a:latin typeface="JetBrains Mono"/>
              </a:rPr>
              <a:t>04 /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9DBF4"/>
                </a:solidFill>
                <a:latin typeface="Montserrat"/>
              </a:rPr>
              <a:t>PHENOMENON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31520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  <a:latin typeface="Montserrat"/>
              </a:rPr>
              <a:t>Intent erosion: rationale gets lost over time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08760"/>
            <a:ext cx="2194560" cy="38100"/>
          </a:xfrm>
          <a:prstGeom prst="rect">
            <a:avLst/>
          </a:prstGeom>
          <a:gradFill flip="none" rotWithShape="1">
            <a:gsLst>
              <a:gs pos="0">
                <a:srgbClr val="29DBF4"/>
              </a:gs>
              <a:gs pos="100000">
                <a:srgbClr val="6E70F6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5486400" cy="2194560"/>
          </a:xfrm>
          <a:prstGeom prst="roundRect">
            <a:avLst>
              <a:gd name="adj" fmla="val 8000"/>
            </a:avLst>
          </a:prstGeom>
          <a:solidFill>
            <a:srgbClr val="1F2D5F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993392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9DBF4"/>
                </a:solidFill>
                <a:latin typeface="Montserrat"/>
              </a:rPr>
              <a:t>DEFINITION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31720"/>
            <a:ext cx="50292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1">
                <a:solidFill>
                  <a:srgbClr val="F8FAFC"/>
                </a:solidFill>
                <a:latin typeface="Inter"/>
              </a:rPr>
              <a:t>The progressive loss of contextual rationale behind code as time passes — as authors leave the organisation and as artifacts become stale or scattered.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28800"/>
            <a:ext cx="53035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FBC029"/>
                </a:solidFill>
                <a:latin typeface="Montserrat"/>
              </a:rPr>
              <a:t>OBSERVABLE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94560"/>
            <a:ext cx="53035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FBC029"/>
                </a:solidFill>
                <a:latin typeface="Inter"/>
              </a:rPr>
              <a:t>•  </a:t>
            </a:r>
            <a:r>
              <a:rPr sz="1400">
                <a:solidFill>
                  <a:srgbClr val="CCD6E3"/>
                </a:solidFill>
                <a:latin typeface="Inter"/>
              </a:rPr>
              <a:t>Long onboarding ramps for new joiners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FBC029"/>
                </a:solidFill>
                <a:latin typeface="Inter"/>
              </a:rPr>
              <a:t>•  </a:t>
            </a:r>
            <a:r>
              <a:rPr sz="1400">
                <a:solidFill>
                  <a:srgbClr val="CCD6E3"/>
                </a:solidFill>
                <a:latin typeface="Inter"/>
              </a:rPr>
              <a:t>Recurring bugs that re-introduce previously fixed regressions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FBC029"/>
                </a:solidFill>
                <a:latin typeface="Inter"/>
              </a:rPr>
              <a:t>•  </a:t>
            </a:r>
            <a:r>
              <a:rPr sz="1400">
                <a:solidFill>
                  <a:srgbClr val="CCD6E3"/>
                </a:solidFill>
                <a:latin typeface="Inter"/>
              </a:rPr>
              <a:t>Cognitive load of "context archaeology" through tickets, commits and chat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FBC029"/>
                </a:solidFill>
                <a:latin typeface="Inter"/>
              </a:rPr>
              <a:t>•  </a:t>
            </a:r>
            <a:r>
              <a:rPr sz="1400">
                <a:solidFill>
                  <a:srgbClr val="CCD6E3"/>
                </a:solidFill>
                <a:latin typeface="Inter"/>
              </a:rPr>
              <a:t>Architectural decisions repeated because the why was never recorded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297680"/>
            <a:ext cx="11064240" cy="1828800"/>
          </a:xfrm>
          <a:prstGeom prst="roundRect">
            <a:avLst>
              <a:gd name="adj" fmla="val 6000"/>
            </a:avLst>
          </a:prstGeom>
          <a:solidFill>
            <a:srgbClr val="18244D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44348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B196FB"/>
                </a:solidFill>
                <a:latin typeface="Montserrat"/>
              </a:rPr>
              <a:t>THE WHY QUESTIONS THAT SOURCE CODE ALONE CANNOT ANSWER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846320"/>
            <a:ext cx="2548890" cy="1097280"/>
          </a:xfrm>
          <a:prstGeom prst="roundRect">
            <a:avLst>
              <a:gd name="adj" fmla="val 10000"/>
            </a:avLst>
          </a:prstGeom>
          <a:solidFill>
            <a:srgbClr val="1F2D5F"/>
          </a:solidFill>
          <a:ln w="9525">
            <a:solidFill>
              <a:srgbClr val="2937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1832" y="5120640"/>
            <a:ext cx="2219706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1">
                <a:solidFill>
                  <a:srgbClr val="F8FAFC"/>
                </a:solidFill>
                <a:latin typeface="Inter"/>
              </a:rPr>
              <a:t>Why was this written this way?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63290" y="4846320"/>
            <a:ext cx="2548890" cy="1097280"/>
          </a:xfrm>
          <a:prstGeom prst="roundRect">
            <a:avLst>
              <a:gd name="adj" fmla="val 10000"/>
            </a:avLst>
          </a:prstGeom>
          <a:solidFill>
            <a:srgbClr val="1F2D5F"/>
          </a:solidFill>
          <a:ln w="9525">
            <a:solidFill>
              <a:srgbClr val="2937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27882" y="5120640"/>
            <a:ext cx="2219706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1">
                <a:solidFill>
                  <a:srgbClr val="F8FAFC"/>
                </a:solidFill>
                <a:latin typeface="Inter"/>
              </a:rPr>
              <a:t>Which requirement triggered this change?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9340" y="4846320"/>
            <a:ext cx="2548890" cy="1097280"/>
          </a:xfrm>
          <a:prstGeom prst="roundRect">
            <a:avLst>
              <a:gd name="adj" fmla="val 10000"/>
            </a:avLst>
          </a:prstGeom>
          <a:solidFill>
            <a:srgbClr val="1F2D5F"/>
          </a:solidFill>
          <a:ln w="9525">
            <a:solidFill>
              <a:srgbClr val="2937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13932" y="5120640"/>
            <a:ext cx="2219706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1">
                <a:solidFill>
                  <a:srgbClr val="F8FAFC"/>
                </a:solidFill>
                <a:latin typeface="Inter"/>
              </a:rPr>
              <a:t>Does the fix actually resolve the original defect?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35390" y="4846320"/>
            <a:ext cx="2548890" cy="1097280"/>
          </a:xfrm>
          <a:prstGeom prst="roundRect">
            <a:avLst>
              <a:gd name="adj" fmla="val 10000"/>
            </a:avLst>
          </a:prstGeom>
          <a:solidFill>
            <a:srgbClr val="1F2D5F"/>
          </a:solidFill>
          <a:ln w="9525">
            <a:solidFill>
              <a:srgbClr val="2937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99982" y="5120640"/>
            <a:ext cx="2219706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1">
                <a:solidFill>
                  <a:srgbClr val="F8FAFC"/>
                </a:solidFill>
                <a:latin typeface="Inter"/>
              </a:rPr>
              <a:t>How does this interact with previous decisions?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90E24"/>
              </a:gs>
              <a:gs pos="100000">
                <a:srgbClr val="121B42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gradFill flip="none" rotWithShape="1">
            <a:gsLst>
              <a:gs pos="0">
                <a:srgbClr val="29DBF4"/>
              </a:gs>
              <a:gs pos="100000">
                <a:srgbClr val="6E70F6"/>
              </a:gs>
            </a:gsLst>
            <a:lin ang="54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293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91440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 dirty="0" err="1">
                <a:solidFill>
                  <a:srgbClr val="96A5BA"/>
                </a:solidFill>
                <a:latin typeface="Inter"/>
              </a:rPr>
              <a:t>IntentEra</a:t>
            </a:r>
            <a:r>
              <a:rPr sz="1000" b="0" i="0" dirty="0">
                <a:solidFill>
                  <a:srgbClr val="96A5BA"/>
                </a:solidFill>
                <a:latin typeface="Inter"/>
              </a:rPr>
              <a:t>  ·  Final </a:t>
            </a:r>
            <a:r>
              <a:rPr lang="en-US" sz="1000" b="0" i="0" dirty="0">
                <a:solidFill>
                  <a:srgbClr val="96A5BA"/>
                </a:solidFill>
                <a:latin typeface="Inter"/>
              </a:rPr>
              <a:t>Term</a:t>
            </a:r>
            <a:r>
              <a:rPr sz="1000" b="0" i="0" dirty="0">
                <a:solidFill>
                  <a:srgbClr val="96A5BA"/>
                </a:solidFill>
                <a:latin typeface="Inter"/>
              </a:rPr>
              <a:t>  ·  The Problem · Ch 1.2</a:t>
            </a:r>
            <a:r>
              <a:rPr lang="en-US" sz="1000" dirty="0">
                <a:solidFill>
                  <a:srgbClr val="96A5BA"/>
                </a:solidFill>
                <a:latin typeface="Inter"/>
              </a:rPr>
              <a:t> – Aarya Nanndaann Singh M N (2024MT03013)</a:t>
            </a:r>
            <a:endParaRPr sz="1000" b="0" i="0" dirty="0">
              <a:solidFill>
                <a:srgbClr val="96A5BA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0" y="656539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6A5BA"/>
                </a:solidFill>
                <a:latin typeface="JetBrains Mono"/>
              </a:rPr>
              <a:t>05 /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9DBF4"/>
                </a:solidFill>
                <a:latin typeface="Montserrat"/>
              </a:rPr>
              <a:t>PROBLEM SETTING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31520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  <a:latin typeface="Montserrat"/>
              </a:rPr>
              <a:t>The reality at Aqueralabs: knowledge lives in silos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08760"/>
            <a:ext cx="2194560" cy="38100"/>
          </a:xfrm>
          <a:prstGeom prst="rect">
            <a:avLst/>
          </a:prstGeom>
          <a:gradFill flip="none" rotWithShape="1">
            <a:gsLst>
              <a:gs pos="0">
                <a:srgbClr val="29DBF4"/>
              </a:gs>
              <a:gs pos="100000">
                <a:srgbClr val="6E70F6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0867" y="1828800"/>
            <a:ext cx="2606040" cy="1508760"/>
          </a:xfrm>
          <a:prstGeom prst="roundRect">
            <a:avLst>
              <a:gd name="adj" fmla="val 10000"/>
            </a:avLst>
          </a:prstGeom>
          <a:solidFill>
            <a:srgbClr val="18244D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0867" y="1828800"/>
            <a:ext cx="2606040" cy="38100"/>
          </a:xfrm>
          <a:prstGeom prst="rect">
            <a:avLst/>
          </a:prstGeom>
          <a:gradFill flip="none" rotWithShape="1">
            <a:gsLst>
              <a:gs pos="0">
                <a:srgbClr val="29DBF4"/>
              </a:gs>
              <a:gs pos="100000">
                <a:srgbClr val="6E70F6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8027" y="1993392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F8FAFC"/>
                </a:solidFill>
                <a:latin typeface="Montserrat"/>
              </a:rPr>
              <a:t>Atlassian Jira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027" y="2542032"/>
            <a:ext cx="23317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CCD6E3"/>
                </a:solidFill>
                <a:latin typeface="Inter"/>
              </a:rPr>
              <a:t>Requirements</a:t>
            </a:r>
          </a:p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CCD6E3"/>
                </a:solidFill>
                <a:latin typeface="Inter"/>
              </a:rPr>
              <a:t>&amp; incident tickets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75507" y="1828800"/>
            <a:ext cx="2606040" cy="1508760"/>
          </a:xfrm>
          <a:prstGeom prst="roundRect">
            <a:avLst>
              <a:gd name="adj" fmla="val 10000"/>
            </a:avLst>
          </a:prstGeom>
          <a:solidFill>
            <a:srgbClr val="18244D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75507" y="1828800"/>
            <a:ext cx="2606040" cy="38100"/>
          </a:xfrm>
          <a:prstGeom prst="rect">
            <a:avLst/>
          </a:prstGeom>
          <a:gradFill flip="none" rotWithShape="1">
            <a:gsLst>
              <a:gs pos="0">
                <a:srgbClr val="6E70F6"/>
              </a:gs>
              <a:gs pos="100000">
                <a:srgbClr val="6E70F6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12667" y="1993392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F8FAFC"/>
                </a:solidFill>
                <a:latin typeface="Montserrat"/>
              </a:rPr>
              <a:t>Confluence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2667" y="2542032"/>
            <a:ext cx="23317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CCD6E3"/>
                </a:solidFill>
                <a:latin typeface="Inter"/>
              </a:rPr>
              <a:t>Design docs</a:t>
            </a:r>
          </a:p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CCD6E3"/>
                </a:solidFill>
                <a:latin typeface="Inter"/>
              </a:rPr>
              <a:t>&amp; meeting notes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0147" y="1828800"/>
            <a:ext cx="2606040" cy="1508760"/>
          </a:xfrm>
          <a:prstGeom prst="roundRect">
            <a:avLst>
              <a:gd name="adj" fmla="val 10000"/>
            </a:avLst>
          </a:prstGeom>
          <a:solidFill>
            <a:srgbClr val="18244D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0147" y="1828800"/>
            <a:ext cx="2606040" cy="38100"/>
          </a:xfrm>
          <a:prstGeom prst="rect">
            <a:avLst/>
          </a:prstGeom>
          <a:gradFill flip="none" rotWithShape="1">
            <a:gsLst>
              <a:gs pos="0">
                <a:srgbClr val="B196FB"/>
              </a:gs>
              <a:gs pos="100000">
                <a:srgbClr val="6E70F6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47307" y="1993392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F8FAFC"/>
                </a:solidFill>
                <a:latin typeface="Montserrat"/>
              </a:rPr>
              <a:t>GitHub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42032"/>
            <a:ext cx="23317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CCD6E3"/>
                </a:solidFill>
                <a:latin typeface="Inter"/>
              </a:rPr>
              <a:t>Commits, PRs</a:t>
            </a:r>
          </a:p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CCD6E3"/>
                </a:solidFill>
                <a:latin typeface="Inter"/>
              </a:rPr>
              <a:t>&amp; review threads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44787" y="1828800"/>
            <a:ext cx="2606040" cy="1508760"/>
          </a:xfrm>
          <a:prstGeom prst="roundRect">
            <a:avLst>
              <a:gd name="adj" fmla="val 10000"/>
            </a:avLst>
          </a:prstGeom>
          <a:solidFill>
            <a:srgbClr val="18244D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044787" y="1828800"/>
            <a:ext cx="2606040" cy="38100"/>
          </a:xfrm>
          <a:prstGeom prst="rect">
            <a:avLst/>
          </a:prstGeom>
          <a:gradFill flip="none" rotWithShape="1">
            <a:gsLst>
              <a:gs pos="0">
                <a:srgbClr val="36DCC4"/>
              </a:gs>
              <a:gs pos="100000">
                <a:srgbClr val="6E70F6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81947" y="1993392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F8FAFC"/>
                </a:solidFill>
                <a:latin typeface="Montserrat"/>
              </a:rPr>
              <a:t>CI / CD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1947" y="2542032"/>
            <a:ext cx="23317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CCD6E3"/>
                </a:solidFill>
                <a:latin typeface="Inter"/>
              </a:rPr>
              <a:t>Build, validation</a:t>
            </a:r>
          </a:p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CCD6E3"/>
                </a:solidFill>
                <a:latin typeface="Inter"/>
              </a:rPr>
              <a:t>&amp; deployment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703320"/>
            <a:ext cx="11064240" cy="2468880"/>
          </a:xfrm>
          <a:prstGeom prst="roundRect">
            <a:avLst>
              <a:gd name="adj" fmla="val 8000"/>
            </a:avLst>
          </a:prstGeom>
          <a:solidFill>
            <a:srgbClr val="1F2D5F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384048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FBC029"/>
                </a:solidFill>
                <a:latin typeface="Montserrat"/>
              </a:rPr>
              <a:t>THE DAILY JOIN PROBLEM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16052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F8FAFC"/>
                </a:solidFill>
                <a:latin typeface="Montserrat"/>
              </a:rPr>
              <a:t>The rationale behind any non-trivial code change is split across three or more of these platforms.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983480"/>
            <a:ext cx="106070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CCD6E3"/>
                </a:solidFill>
                <a:latin typeface="Inter"/>
              </a:rPr>
              <a:t>New joiners and contributors perform the same mental joins repeatedly, often with incomplete information. We needed a semantic intermediary that ingests once, reconstructs intent on demand, and surfaces it inside the developer's existing tooling.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90E24"/>
              </a:gs>
              <a:gs pos="100000">
                <a:srgbClr val="121B42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gradFill flip="none" rotWithShape="1">
            <a:gsLst>
              <a:gs pos="0">
                <a:srgbClr val="29DBF4"/>
              </a:gs>
              <a:gs pos="100000">
                <a:srgbClr val="6E70F6"/>
              </a:gs>
            </a:gsLst>
            <a:lin ang="54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293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91440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 dirty="0" err="1">
                <a:solidFill>
                  <a:srgbClr val="96A5BA"/>
                </a:solidFill>
                <a:latin typeface="Inter"/>
              </a:rPr>
              <a:t>IntentEra</a:t>
            </a:r>
            <a:r>
              <a:rPr sz="1000" b="0" i="0" dirty="0">
                <a:solidFill>
                  <a:srgbClr val="96A5BA"/>
                </a:solidFill>
                <a:latin typeface="Inter"/>
              </a:rPr>
              <a:t>  ·  Final </a:t>
            </a:r>
            <a:r>
              <a:rPr lang="en-US" sz="1000" b="0" i="0" dirty="0">
                <a:solidFill>
                  <a:srgbClr val="96A5BA"/>
                </a:solidFill>
                <a:latin typeface="Inter"/>
              </a:rPr>
              <a:t>Term</a:t>
            </a:r>
            <a:r>
              <a:rPr sz="1000" b="0" i="0" dirty="0">
                <a:solidFill>
                  <a:srgbClr val="96A5BA"/>
                </a:solidFill>
                <a:latin typeface="Inter"/>
              </a:rPr>
              <a:t>  ·  The Problem · Ch 3</a:t>
            </a:r>
            <a:r>
              <a:rPr lang="en-US" sz="1000" dirty="0">
                <a:solidFill>
                  <a:srgbClr val="96A5BA"/>
                </a:solidFill>
                <a:latin typeface="Inter"/>
              </a:rPr>
              <a:t> – Aarya Nanndaann Singh M N (2024MT03013)</a:t>
            </a:r>
            <a:endParaRPr sz="1000" b="0" i="0" dirty="0">
              <a:solidFill>
                <a:srgbClr val="96A5BA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0" y="656539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6A5BA"/>
                </a:solidFill>
                <a:latin typeface="JetBrains Mono"/>
              </a:rPr>
              <a:t>06 /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9DBF4"/>
                </a:solidFill>
                <a:latin typeface="Montserrat"/>
              </a:rPr>
              <a:t>WHAT WE SET OUT TO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31520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  <a:latin typeface="Montserrat"/>
              </a:rPr>
              <a:t>Formal statement and dissertation objectives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08760"/>
            <a:ext cx="2194560" cy="38100"/>
          </a:xfrm>
          <a:prstGeom prst="rect">
            <a:avLst/>
          </a:prstGeom>
          <a:gradFill flip="none" rotWithShape="1">
            <a:gsLst>
              <a:gs pos="0">
                <a:srgbClr val="29DBF4"/>
              </a:gs>
              <a:gs pos="100000">
                <a:srgbClr val="6E70F6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5212080" cy="4297680"/>
          </a:xfrm>
          <a:prstGeom prst="roundRect">
            <a:avLst>
              <a:gd name="adj" fmla="val 8000"/>
            </a:avLst>
          </a:prstGeom>
          <a:solidFill>
            <a:srgbClr val="18244D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993392"/>
            <a:ext cx="47548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9DBF4"/>
                </a:solidFill>
                <a:latin typeface="Montserrat"/>
              </a:rPr>
              <a:t>FORMAL STATEMENT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3172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96A5BA"/>
                </a:solidFill>
                <a:latin typeface="Inter"/>
              </a:rPr>
              <a:t>Given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743200"/>
            <a:ext cx="4754880" cy="914400"/>
          </a:xfrm>
          <a:prstGeom prst="roundRect">
            <a:avLst>
              <a:gd name="adj" fmla="val 18000"/>
            </a:avLst>
          </a:prstGeom>
          <a:solidFill>
            <a:srgbClr val="090E24"/>
          </a:solidFill>
          <a:ln w="9525">
            <a:solidFill>
              <a:srgbClr val="6E70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2743200"/>
            <a:ext cx="47548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29DBF4"/>
                </a:solidFill>
                <a:latin typeface="JetBrains Mono"/>
              </a:rPr>
              <a:t>(R, C, D, q)  →  (E, 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40480"/>
            <a:ext cx="475488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B196FB"/>
                </a:solidFill>
                <a:latin typeface="Inter"/>
              </a:rPr>
              <a:t>•  </a:t>
            </a:r>
            <a:r>
              <a:rPr sz="1100">
                <a:solidFill>
                  <a:srgbClr val="CCD6E3"/>
                </a:solidFill>
                <a:latin typeface="Inter"/>
              </a:rPr>
              <a:t>R — requirement-bearing artifacts (Jira, Confluence)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B196FB"/>
                </a:solidFill>
                <a:latin typeface="Inter"/>
              </a:rPr>
              <a:t>•  </a:t>
            </a:r>
            <a:r>
              <a:rPr sz="1100">
                <a:solidFill>
                  <a:srgbClr val="CCD6E3"/>
                </a:solidFill>
                <a:latin typeface="Inter"/>
              </a:rPr>
              <a:t>C — code-related artifacts (commits, PRs, reviews)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B196FB"/>
                </a:solidFill>
                <a:latin typeface="Inter"/>
              </a:rPr>
              <a:t>•  </a:t>
            </a:r>
            <a:r>
              <a:rPr sz="1100">
                <a:solidFill>
                  <a:srgbClr val="CCD6E3"/>
                </a:solidFill>
                <a:latin typeface="Inter"/>
              </a:rPr>
              <a:t>D — developer's working tree, file f, range ⟨a, b⟩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B196FB"/>
                </a:solidFill>
                <a:latin typeface="Inter"/>
              </a:rPr>
              <a:t>•  </a:t>
            </a:r>
            <a:r>
              <a:rPr sz="1100">
                <a:solidFill>
                  <a:srgbClr val="CCD6E3"/>
                </a:solidFill>
                <a:latin typeface="Inter"/>
              </a:rPr>
              <a:t>q — natural-language question from the developer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B196FB"/>
                </a:solidFill>
                <a:latin typeface="Inter"/>
              </a:rPr>
              <a:t>•  </a:t>
            </a:r>
            <a:r>
              <a:rPr sz="1100">
                <a:solidFill>
                  <a:srgbClr val="CCD6E3"/>
                </a:solidFill>
                <a:latin typeface="Inter"/>
              </a:rPr>
              <a:t>E — explanation in plain language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B196FB"/>
                </a:solidFill>
                <a:latin typeface="Inter"/>
              </a:rPr>
              <a:t>•  </a:t>
            </a:r>
            <a:r>
              <a:rPr sz="1100">
                <a:solidFill>
                  <a:srgbClr val="CCD6E3"/>
                </a:solidFill>
                <a:latin typeface="Inter"/>
              </a:rPr>
              <a:t>S — citation set, every claim attributable to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82880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FBC029"/>
                </a:solidFill>
                <a:latin typeface="Montserrat"/>
              </a:rPr>
              <a:t>OBJECTIVES</a:t>
            </a:r>
          </a:p>
        </p:txBody>
      </p:sp>
      <p:sp>
        <p:nvSpPr>
          <p:cNvPr id="17" name="Oval 16"/>
          <p:cNvSpPr/>
          <p:nvPr/>
        </p:nvSpPr>
        <p:spPr>
          <a:xfrm>
            <a:off x="6126480" y="2267712"/>
            <a:ext cx="502920" cy="502920"/>
          </a:xfrm>
          <a:prstGeom prst="ellipse">
            <a:avLst/>
          </a:prstGeom>
          <a:solidFill>
            <a:srgbClr val="6E7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8FAFC"/>
                </a:solidFill>
                <a:latin typeface="Montserrat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231136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9DBF4"/>
                </a:solidFill>
                <a:latin typeface="Montserrat"/>
              </a:rPr>
              <a:t>Characterise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523744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CCD6E3"/>
                </a:solidFill>
                <a:latin typeface="Inter"/>
              </a:rPr>
              <a:t>intent erosion with concrete examples from production</a:t>
            </a:r>
          </a:p>
        </p:txBody>
      </p:sp>
      <p:sp>
        <p:nvSpPr>
          <p:cNvPr id="20" name="Oval 19"/>
          <p:cNvSpPr/>
          <p:nvPr/>
        </p:nvSpPr>
        <p:spPr>
          <a:xfrm>
            <a:off x="6126480" y="3054096"/>
            <a:ext cx="502920" cy="502920"/>
          </a:xfrm>
          <a:prstGeom prst="ellipse">
            <a:avLst/>
          </a:prstGeom>
          <a:solidFill>
            <a:srgbClr val="6E7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8FAFC"/>
                </a:solidFill>
                <a:latin typeface="Montserrat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017520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9DBF4"/>
                </a:solidFill>
                <a:latin typeface="Montserrat"/>
              </a:rPr>
              <a:t>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310128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CCD6E3"/>
                </a:solidFill>
                <a:latin typeface="Inter"/>
              </a:rPr>
              <a:t>a semantic reconstruction framework — metadata + embeddings</a:t>
            </a:r>
          </a:p>
        </p:txBody>
      </p:sp>
      <p:sp>
        <p:nvSpPr>
          <p:cNvPr id="23" name="Oval 22"/>
          <p:cNvSpPr/>
          <p:nvPr/>
        </p:nvSpPr>
        <p:spPr>
          <a:xfrm>
            <a:off x="6126480" y="3840480"/>
            <a:ext cx="502920" cy="502920"/>
          </a:xfrm>
          <a:prstGeom prst="ellipse">
            <a:avLst/>
          </a:prstGeom>
          <a:solidFill>
            <a:srgbClr val="6E7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8FAFC"/>
                </a:solidFill>
                <a:latin typeface="Montserrat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803904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9DBF4"/>
                </a:solidFill>
                <a:latin typeface="Montserrat"/>
              </a:rPr>
              <a:t>Architect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4096512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CCD6E3"/>
                </a:solidFill>
                <a:latin typeface="Inter"/>
              </a:rPr>
              <a:t>a cloud-hosted agentic AI system combining RAG + multi-agent reasoning</a:t>
            </a:r>
          </a:p>
        </p:txBody>
      </p:sp>
      <p:sp>
        <p:nvSpPr>
          <p:cNvPr id="26" name="Oval 25"/>
          <p:cNvSpPr/>
          <p:nvPr/>
        </p:nvSpPr>
        <p:spPr>
          <a:xfrm>
            <a:off x="6126480" y="4626864"/>
            <a:ext cx="502920" cy="502920"/>
          </a:xfrm>
          <a:prstGeom prst="ellipse">
            <a:avLst/>
          </a:prstGeom>
          <a:solidFill>
            <a:srgbClr val="6E7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8FAFC"/>
                </a:solidFill>
                <a:latin typeface="Montserrat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4590288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9DBF4"/>
                </a:solidFill>
                <a:latin typeface="Montserrat"/>
              </a:rPr>
              <a:t>Integrate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4882896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CCD6E3"/>
                </a:solidFill>
                <a:latin typeface="Inter"/>
              </a:rPr>
              <a:t>with VS Code and Cursor — no context-switching</a:t>
            </a:r>
          </a:p>
        </p:txBody>
      </p:sp>
      <p:sp>
        <p:nvSpPr>
          <p:cNvPr id="29" name="Oval 28"/>
          <p:cNvSpPr/>
          <p:nvPr/>
        </p:nvSpPr>
        <p:spPr>
          <a:xfrm>
            <a:off x="6126480" y="5413248"/>
            <a:ext cx="502920" cy="502920"/>
          </a:xfrm>
          <a:prstGeom prst="ellipse">
            <a:avLst/>
          </a:prstGeom>
          <a:solidFill>
            <a:srgbClr val="6E7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8FAFC"/>
                </a:solidFill>
                <a:latin typeface="Montserrat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5376672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9DBF4"/>
                </a:solidFill>
                <a:latin typeface="Montserrat"/>
              </a:rPr>
              <a:t>Evaluate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566928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CCD6E3"/>
                </a:solidFill>
                <a:latin typeface="Inter"/>
              </a:rPr>
              <a:t>functional correctness, operating cost and cognitive-load impact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90E24"/>
              </a:gs>
              <a:gs pos="100000">
                <a:srgbClr val="121B42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gradFill flip="none" rotWithShape="1">
            <a:gsLst>
              <a:gs pos="0">
                <a:srgbClr val="29DBF4"/>
              </a:gs>
              <a:gs pos="100000">
                <a:srgbClr val="6E70F6"/>
              </a:gs>
            </a:gsLst>
            <a:lin ang="54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293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91440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 dirty="0" err="1">
                <a:solidFill>
                  <a:srgbClr val="96A5BA"/>
                </a:solidFill>
                <a:latin typeface="Inter"/>
              </a:rPr>
              <a:t>IntentEra</a:t>
            </a:r>
            <a:r>
              <a:rPr sz="1000" b="0" i="0" dirty="0">
                <a:solidFill>
                  <a:srgbClr val="96A5BA"/>
                </a:solidFill>
                <a:latin typeface="Inter"/>
              </a:rPr>
              <a:t>  ·  Final </a:t>
            </a:r>
            <a:r>
              <a:rPr lang="en-US" sz="1000" b="0" i="0" dirty="0">
                <a:solidFill>
                  <a:srgbClr val="96A5BA"/>
                </a:solidFill>
                <a:latin typeface="Inter"/>
              </a:rPr>
              <a:t>Term</a:t>
            </a:r>
            <a:r>
              <a:rPr sz="1000" b="0" i="0" dirty="0">
                <a:solidFill>
                  <a:srgbClr val="96A5BA"/>
                </a:solidFill>
                <a:latin typeface="Inter"/>
              </a:rPr>
              <a:t>  ·  Literature · Ch 2</a:t>
            </a:r>
            <a:r>
              <a:rPr lang="en-US" sz="1000" dirty="0">
                <a:solidFill>
                  <a:srgbClr val="96A5BA"/>
                </a:solidFill>
                <a:latin typeface="Inter"/>
              </a:rPr>
              <a:t> – Aarya Nanndaann Singh M N (2024MT03013)</a:t>
            </a:r>
            <a:endParaRPr sz="1000" b="0" i="0" dirty="0">
              <a:solidFill>
                <a:srgbClr val="96A5BA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0" y="656539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6A5BA"/>
                </a:solidFill>
                <a:latin typeface="JetBrains Mono"/>
              </a:rPr>
              <a:t>07 /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9DBF4"/>
                </a:solidFill>
                <a:latin typeface="Montserrat"/>
              </a:rPr>
              <a:t>LITERATURE SNAPSHOT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31520"/>
            <a:ext cx="1115568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2800" b="1" i="0" dirty="0">
                <a:solidFill>
                  <a:srgbClr val="F8FAFC"/>
                </a:solidFill>
                <a:latin typeface="Montserrat"/>
              </a:rPr>
              <a:t>Standing on four lines of prior work — and finding the gap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08760"/>
            <a:ext cx="2194560" cy="38100"/>
          </a:xfrm>
          <a:prstGeom prst="rect">
            <a:avLst/>
          </a:prstGeom>
          <a:gradFill flip="none" rotWithShape="1">
            <a:gsLst>
              <a:gs pos="0">
                <a:srgbClr val="29DBF4"/>
              </a:gs>
              <a:gs pos="100000">
                <a:srgbClr val="6E70F6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63727" y="1783080"/>
            <a:ext cx="5440680" cy="1783080"/>
          </a:xfrm>
          <a:prstGeom prst="roundRect">
            <a:avLst>
              <a:gd name="adj" fmla="val 8000"/>
            </a:avLst>
          </a:prstGeom>
          <a:solidFill>
            <a:srgbClr val="18244D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3727" y="1783080"/>
            <a:ext cx="5440680" cy="38100"/>
          </a:xfrm>
          <a:prstGeom prst="rect">
            <a:avLst/>
          </a:prstGeom>
          <a:gradFill flip="none" rotWithShape="1">
            <a:gsLst>
              <a:gs pos="0">
                <a:srgbClr val="29DBF4"/>
              </a:gs>
              <a:gs pos="100000">
                <a:srgbClr val="6E70F6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8319" y="1929384"/>
            <a:ext cx="51114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29DBF4"/>
                </a:solidFill>
                <a:latin typeface="JetBrains Mono"/>
              </a:rPr>
              <a:t>[1] Guo et al. (2024)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8319" y="2167128"/>
            <a:ext cx="51114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Montserrat"/>
              </a:rPr>
              <a:t>NLP for Requirements Traceability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8319" y="2560320"/>
            <a:ext cx="51114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CCD6E3"/>
                </a:solidFill>
                <a:latin typeface="Inter"/>
              </a:rPr>
              <a:t>Entity-aware preprocessing materially improves link quality vs. plain lexical search.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8319" y="3108960"/>
            <a:ext cx="511149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9DBF4"/>
                </a:solidFill>
                <a:latin typeface="Inter"/>
              </a:rPr>
              <a:t>→  Adopted in the Jira normaliser and section-aware chunker.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7287" y="1783080"/>
            <a:ext cx="5440680" cy="1783080"/>
          </a:xfrm>
          <a:prstGeom prst="roundRect">
            <a:avLst>
              <a:gd name="adj" fmla="val 8000"/>
            </a:avLst>
          </a:prstGeom>
          <a:solidFill>
            <a:srgbClr val="18244D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87287" y="1783080"/>
            <a:ext cx="5440680" cy="38100"/>
          </a:xfrm>
          <a:prstGeom prst="rect">
            <a:avLst/>
          </a:prstGeom>
          <a:gradFill flip="none" rotWithShape="1">
            <a:gsLst>
              <a:gs pos="0">
                <a:srgbClr val="6E70F6"/>
              </a:gs>
              <a:gs pos="100000">
                <a:srgbClr val="6E70F6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1879" y="1929384"/>
            <a:ext cx="51114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6E70F6"/>
                </a:solidFill>
                <a:latin typeface="JetBrains Mono"/>
              </a:rPr>
              <a:t>[2] Wang, Zou, Wan et al. (2024)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1879" y="2167128"/>
            <a:ext cx="51114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Montserrat"/>
              </a:rPr>
              <a:t>Empirical Study on Req-to-Code Link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1879" y="2560320"/>
            <a:ext cx="51114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CCD6E3"/>
                </a:solidFill>
                <a:latin typeface="Inter"/>
              </a:rPr>
              <a:t>No single technique dominates; hybrid IR + neural approaches win.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1879" y="3108960"/>
            <a:ext cx="511149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E70F6"/>
                </a:solidFill>
                <a:latin typeface="Inter"/>
              </a:rPr>
              <a:t>→  Drove the structured-metadata + vector hybrid query design.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3727" y="3749040"/>
            <a:ext cx="5440680" cy="1783080"/>
          </a:xfrm>
          <a:prstGeom prst="roundRect">
            <a:avLst>
              <a:gd name="adj" fmla="val 8000"/>
            </a:avLst>
          </a:prstGeom>
          <a:solidFill>
            <a:srgbClr val="18244D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63727" y="3749040"/>
            <a:ext cx="5440680" cy="38100"/>
          </a:xfrm>
          <a:prstGeom prst="rect">
            <a:avLst/>
          </a:prstGeom>
          <a:gradFill flip="none" rotWithShape="1">
            <a:gsLst>
              <a:gs pos="0">
                <a:srgbClr val="B196FB"/>
              </a:gs>
              <a:gs pos="100000">
                <a:srgbClr val="6E70F6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8319" y="3895344"/>
            <a:ext cx="51114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B196FB"/>
                </a:solidFill>
                <a:latin typeface="JetBrains Mono"/>
              </a:rPr>
              <a:t>[3] Ali, Naganathan, Bork (2024)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8319" y="4133088"/>
            <a:ext cx="51114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Montserrat"/>
              </a:rPr>
              <a:t>RAG for Traceability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8319" y="4526280"/>
            <a:ext cx="51114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CCD6E3"/>
                </a:solidFill>
                <a:latin typeface="Inter"/>
              </a:rPr>
              <a:t>Retrieve, then generate with retrieved context as grounding.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8319" y="5074920"/>
            <a:ext cx="511149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B196FB"/>
                </a:solidFill>
                <a:latin typeface="Inter"/>
              </a:rPr>
              <a:t>→  Conceptual blueprint for the IntentEra reasoning engine.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87287" y="3749040"/>
            <a:ext cx="5440680" cy="1783080"/>
          </a:xfrm>
          <a:prstGeom prst="roundRect">
            <a:avLst>
              <a:gd name="adj" fmla="val 8000"/>
            </a:avLst>
          </a:prstGeom>
          <a:solidFill>
            <a:srgbClr val="18244D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87287" y="3749040"/>
            <a:ext cx="5440680" cy="38100"/>
          </a:xfrm>
          <a:prstGeom prst="rect">
            <a:avLst/>
          </a:prstGeom>
          <a:gradFill flip="none" rotWithShape="1">
            <a:gsLst>
              <a:gs pos="0">
                <a:srgbClr val="36DCC4"/>
              </a:gs>
              <a:gs pos="100000">
                <a:srgbClr val="6E70F6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51879" y="3895344"/>
            <a:ext cx="51114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36DCC4"/>
                </a:solidFill>
                <a:latin typeface="JetBrains Mono"/>
              </a:rPr>
              <a:t>[4][5] Ahmad et al. / Kanade et al.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1879" y="4133088"/>
            <a:ext cx="51114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Montserrat"/>
              </a:rPr>
              <a:t>Transformers for Code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1879" y="4526280"/>
            <a:ext cx="51114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CCD6E3"/>
                </a:solidFill>
                <a:latin typeface="Inter"/>
              </a:rPr>
              <a:t>Reusable embedding spaces for software engineering tasks without per-project tuning.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1879" y="5074920"/>
            <a:ext cx="511149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36DCC4"/>
                </a:solidFill>
                <a:latin typeface="Inter"/>
              </a:rPr>
              <a:t>→  Justifies pluggable embedder; OpenAI text-emb-3-small today.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577840"/>
            <a:ext cx="11064240" cy="731520"/>
          </a:xfrm>
          <a:prstGeom prst="roundRect">
            <a:avLst>
              <a:gd name="adj" fmla="val 18000"/>
            </a:avLst>
          </a:prstGeom>
          <a:solidFill>
            <a:srgbClr val="1F2D5F"/>
          </a:solidFill>
          <a:ln w="9525">
            <a:solidFill>
              <a:srgbClr val="FBC0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77240" y="5650992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FBC029"/>
                </a:solidFill>
                <a:latin typeface="Montserrat"/>
              </a:rPr>
              <a:t>THE GAP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897880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1">
                <a:solidFill>
                  <a:srgbClr val="F8FAFC"/>
                </a:solidFill>
                <a:latin typeface="Inter"/>
              </a:rPr>
              <a:t>Almost no work in the intersection has been packaged as a deployable, IDE-integrated system that an engineering team can adopt incrementally.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90E24"/>
              </a:gs>
              <a:gs pos="50000">
                <a:srgbClr val="1B1455"/>
              </a:gs>
              <a:gs pos="100000">
                <a:srgbClr val="352986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-1371600" y="5029200"/>
            <a:ext cx="15087600" cy="548640"/>
          </a:xfrm>
          <a:prstGeom prst="parallelogram">
            <a:avLst>
              <a:gd name="adj" fmla="val 40000"/>
            </a:avLst>
          </a:prstGeom>
          <a:gradFill flip="none" rotWithShape="1">
            <a:gsLst>
              <a:gs pos="0">
                <a:srgbClr val="29DBF4"/>
              </a:gs>
              <a:gs pos="50000">
                <a:srgbClr val="6E70F6"/>
              </a:gs>
              <a:gs pos="100000">
                <a:srgbClr val="B196FB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300">
                <a:solidFill>
                  <a:srgbClr val="29DBF4"/>
                </a:solidFill>
                <a:latin typeface="Montserrat"/>
              </a:rPr>
              <a:t>SECTION 02  ·  CHAPTER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800" b="1" i="0">
                <a:solidFill>
                  <a:srgbClr val="F8FAFC"/>
                </a:solidFill>
                <a:latin typeface="Montserrat"/>
              </a:rPr>
              <a:t>The Architecture.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519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1">
                <a:solidFill>
                  <a:srgbClr val="CCD6E3"/>
                </a:solidFill>
                <a:latin typeface="Inter"/>
              </a:rPr>
              <a:t>Five layers, source-neutral, idempotent — built for a small team's economics.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293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91440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 dirty="0" err="1">
                <a:solidFill>
                  <a:srgbClr val="96A5BA"/>
                </a:solidFill>
                <a:latin typeface="Inter"/>
              </a:rPr>
              <a:t>IntentEra</a:t>
            </a:r>
            <a:r>
              <a:rPr sz="1000" b="0" i="0" dirty="0">
                <a:solidFill>
                  <a:srgbClr val="96A5BA"/>
                </a:solidFill>
                <a:latin typeface="Inter"/>
              </a:rPr>
              <a:t>  ·  Final </a:t>
            </a:r>
            <a:r>
              <a:rPr lang="en-US" sz="1000" b="0" i="0" dirty="0">
                <a:solidFill>
                  <a:srgbClr val="96A5BA"/>
                </a:solidFill>
                <a:latin typeface="Inter"/>
              </a:rPr>
              <a:t>Term</a:t>
            </a:r>
            <a:r>
              <a:rPr sz="1000" b="0" i="0" dirty="0">
                <a:solidFill>
                  <a:srgbClr val="96A5BA"/>
                </a:solidFill>
                <a:latin typeface="Inter"/>
              </a:rPr>
              <a:t>  ·  Architecture</a:t>
            </a:r>
            <a:r>
              <a:rPr lang="en-US" sz="1000" dirty="0">
                <a:solidFill>
                  <a:srgbClr val="96A5BA"/>
                </a:solidFill>
                <a:latin typeface="Inter"/>
              </a:rPr>
              <a:t> – Aarya Nanndaann Singh M N (2024MT03013)</a:t>
            </a:r>
            <a:endParaRPr sz="1000" b="0" i="0" dirty="0">
              <a:solidFill>
                <a:srgbClr val="96A5BA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6A5BA"/>
                </a:solidFill>
                <a:latin typeface="JetBrains Mono"/>
              </a:rPr>
              <a:t>08 / 32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59" y="18288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90E24"/>
              </a:gs>
              <a:gs pos="100000">
                <a:srgbClr val="121B42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gradFill flip="none" rotWithShape="1">
            <a:gsLst>
              <a:gs pos="0">
                <a:srgbClr val="29DBF4"/>
              </a:gs>
              <a:gs pos="100000">
                <a:srgbClr val="6E70F6"/>
              </a:gs>
            </a:gsLst>
            <a:lin ang="54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293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91440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 dirty="0" err="1">
                <a:solidFill>
                  <a:srgbClr val="96A5BA"/>
                </a:solidFill>
                <a:latin typeface="Inter"/>
              </a:rPr>
              <a:t>IntentEra</a:t>
            </a:r>
            <a:r>
              <a:rPr sz="1000" b="0" i="0" dirty="0">
                <a:solidFill>
                  <a:srgbClr val="96A5BA"/>
                </a:solidFill>
                <a:latin typeface="Inter"/>
              </a:rPr>
              <a:t>  ·  Final </a:t>
            </a:r>
            <a:r>
              <a:rPr lang="en-US" sz="1000" b="0" i="0" dirty="0">
                <a:solidFill>
                  <a:srgbClr val="96A5BA"/>
                </a:solidFill>
                <a:latin typeface="Inter"/>
              </a:rPr>
              <a:t>Term</a:t>
            </a:r>
            <a:r>
              <a:rPr sz="1000" b="0" i="0" dirty="0">
                <a:solidFill>
                  <a:srgbClr val="96A5BA"/>
                </a:solidFill>
                <a:latin typeface="Inter"/>
              </a:rPr>
              <a:t>  ·  Architecture · Ch 4</a:t>
            </a:r>
            <a:r>
              <a:rPr lang="en-US" sz="1000" dirty="0">
                <a:solidFill>
                  <a:srgbClr val="96A5BA"/>
                </a:solidFill>
                <a:latin typeface="Inter"/>
              </a:rPr>
              <a:t> – Aarya Nanndaann Singh M N (2024MT03013)</a:t>
            </a:r>
            <a:endParaRPr sz="1000" b="0" i="0" dirty="0">
              <a:solidFill>
                <a:srgbClr val="96A5BA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0" y="656539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6A5BA"/>
                </a:solidFill>
                <a:latin typeface="JetBrains Mono"/>
              </a:rPr>
              <a:t>09 /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9DBF4"/>
                </a:solidFill>
                <a:latin typeface="Montserrat"/>
              </a:rPr>
              <a:t>THE WHOLE SYSTEM ON ONE SLIDE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31520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  <a:latin typeface="Montserrat"/>
              </a:rPr>
              <a:t>IntentEra at a glance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08760"/>
            <a:ext cx="2194560" cy="38100"/>
          </a:xfrm>
          <a:prstGeom prst="rect">
            <a:avLst/>
          </a:prstGeom>
          <a:gradFill flip="none" rotWithShape="1">
            <a:gsLst>
              <a:gs pos="0">
                <a:srgbClr val="29DBF4"/>
              </a:gs>
              <a:gs pos="100000">
                <a:srgbClr val="6E70F6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ig_overal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146" y="1783080"/>
            <a:ext cx="6076188" cy="40507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907024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96A5BA"/>
                </a:solidFill>
                <a:latin typeface="Inter"/>
              </a:rPr>
              <a:t>Five-layer reference architecture (Fig. 1, dissertation).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1783080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9DBF4"/>
                </a:solidFill>
                <a:latin typeface="Montserrat"/>
              </a:rPr>
              <a:t>TECHNOLOGY STACK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148840"/>
            <a:ext cx="1828800" cy="31089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9D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29DBF4"/>
                </a:solidFill>
                <a:latin typeface="Montserrat"/>
              </a:rPr>
              <a:t>AWS Lambda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2514600"/>
            <a:ext cx="1874519" cy="31089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9D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29DBF4"/>
                </a:solidFill>
                <a:latin typeface="Montserrat"/>
              </a:rPr>
              <a:t>API Gateway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880360"/>
            <a:ext cx="1874519" cy="31089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9D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29DBF4"/>
                </a:solidFill>
                <a:latin typeface="Montserrat"/>
              </a:rPr>
              <a:t>EventBridge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3246120"/>
            <a:ext cx="1874519" cy="31089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9D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29DBF4"/>
                </a:solidFill>
                <a:latin typeface="Montserrat"/>
              </a:rPr>
              <a:t>Secrets Manager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3611880"/>
            <a:ext cx="1874519" cy="31089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DD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3DDA9F"/>
                </a:solidFill>
                <a:latin typeface="Montserrat"/>
              </a:rPr>
              <a:t>MongoDB Atlas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3977640"/>
            <a:ext cx="1874519" cy="31089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DD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3DDA9F"/>
                </a:solidFill>
                <a:latin typeface="Montserrat"/>
              </a:rPr>
              <a:t>Vector Search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4343400"/>
            <a:ext cx="1874519" cy="31089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B19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B196FB"/>
                </a:solidFill>
                <a:latin typeface="Montserrat"/>
              </a:rPr>
              <a:t>OpenAI GPT-4o-mini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4709160"/>
            <a:ext cx="1874519" cy="31089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B19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B196FB"/>
                </a:solidFill>
                <a:latin typeface="Montserrat"/>
              </a:rPr>
              <a:t>text-embedding-3-small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5074920"/>
            <a:ext cx="1874519" cy="31089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BC0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BC029"/>
                </a:solidFill>
                <a:latin typeface="Montserrat"/>
              </a:rPr>
              <a:t>Upstash Redis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5440680"/>
            <a:ext cx="1874519" cy="31089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6D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36DCC4"/>
                </a:solidFill>
                <a:latin typeface="Montserrat"/>
              </a:rPr>
              <a:t>VS Code · Cursor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63200" y="4393692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 dirty="0">
                <a:solidFill>
                  <a:srgbClr val="FBC029"/>
                </a:solidFill>
                <a:latin typeface="Montserrat"/>
              </a:rPr>
              <a:t>FIVE LAYERS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7663" y="465756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>
                <a:solidFill>
                  <a:srgbClr val="29DBF4"/>
                </a:solidFill>
                <a:latin typeface="JetBrains Mono"/>
              </a:rPr>
              <a:t>L1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1983" y="462229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F8FAFC"/>
                </a:solidFill>
                <a:latin typeface="Inter"/>
              </a:rPr>
              <a:t>Artifact Ingestion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7663" y="4857669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29DBF4"/>
                </a:solidFill>
                <a:latin typeface="JetBrains Mono"/>
              </a:rPr>
              <a:t>L2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1983" y="485317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F8FAFC"/>
                </a:solidFill>
                <a:latin typeface="Inter"/>
              </a:rPr>
              <a:t>Knowledge Extraction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7663" y="506572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>
                <a:solidFill>
                  <a:srgbClr val="29DBF4"/>
                </a:solidFill>
                <a:latin typeface="JetBrains Mono"/>
              </a:rPr>
              <a:t>L3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63200" y="506572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F8FAFC"/>
                </a:solidFill>
                <a:latin typeface="Inter"/>
              </a:rPr>
              <a:t>Semantic Reasoning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7663" y="529660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>
                <a:solidFill>
                  <a:srgbClr val="29DBF4"/>
                </a:solidFill>
                <a:latin typeface="JetBrains Mono"/>
              </a:rPr>
              <a:t>L4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63200" y="529660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F8FAFC"/>
                </a:solidFill>
                <a:latin typeface="Inter"/>
              </a:rPr>
              <a:t>Agent Orchestration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7663" y="5504661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>
                <a:solidFill>
                  <a:srgbClr val="29DBF4"/>
                </a:solidFill>
                <a:latin typeface="JetBrains Mono"/>
              </a:rPr>
              <a:t>L5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63200" y="5505641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F8FAFC"/>
                </a:solidFill>
                <a:latin typeface="Inter"/>
              </a:rPr>
              <a:t>IDE Integration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90E24"/>
              </a:gs>
              <a:gs pos="100000">
                <a:srgbClr val="121B42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gradFill flip="none" rotWithShape="1">
            <a:gsLst>
              <a:gs pos="0">
                <a:srgbClr val="29DBF4"/>
              </a:gs>
              <a:gs pos="100000">
                <a:srgbClr val="6E70F6"/>
              </a:gs>
            </a:gsLst>
            <a:lin ang="54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293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91440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 dirty="0" err="1">
                <a:solidFill>
                  <a:srgbClr val="96A5BA"/>
                </a:solidFill>
                <a:latin typeface="Inter"/>
              </a:rPr>
              <a:t>IntentEra</a:t>
            </a:r>
            <a:r>
              <a:rPr sz="1000" b="0" i="0" dirty="0">
                <a:solidFill>
                  <a:srgbClr val="96A5BA"/>
                </a:solidFill>
                <a:latin typeface="Inter"/>
              </a:rPr>
              <a:t>  ·  Final </a:t>
            </a:r>
            <a:r>
              <a:rPr lang="en-US" sz="1000" b="0" i="0" dirty="0">
                <a:solidFill>
                  <a:srgbClr val="96A5BA"/>
                </a:solidFill>
                <a:latin typeface="Inter"/>
              </a:rPr>
              <a:t>Term</a:t>
            </a:r>
            <a:r>
              <a:rPr sz="1000" b="0" i="0" dirty="0">
                <a:solidFill>
                  <a:srgbClr val="96A5BA"/>
                </a:solidFill>
                <a:latin typeface="Inter"/>
              </a:rPr>
              <a:t>  ·  Architecture · Ch 4.2</a:t>
            </a:r>
            <a:r>
              <a:rPr lang="en-US" sz="1000" dirty="0">
                <a:solidFill>
                  <a:srgbClr val="96A5BA"/>
                </a:solidFill>
                <a:latin typeface="Inter"/>
              </a:rPr>
              <a:t> – Aarya Nanndaann Singh M N (2024MT03013)</a:t>
            </a:r>
            <a:endParaRPr sz="1000" b="0" i="0" dirty="0">
              <a:solidFill>
                <a:srgbClr val="96A5BA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0" y="656539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6A5BA"/>
                </a:solidFill>
                <a:latin typeface="JetBrains Mono"/>
              </a:rPr>
              <a:t>10 /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9DBF4"/>
                </a:solidFill>
                <a:latin typeface="Montserrat"/>
              </a:rPr>
              <a:t>LAYERED SEPARATION OF CONCERNS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31520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  <a:latin typeface="Montserrat"/>
              </a:rPr>
              <a:t>The five layers, in one screen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08760"/>
            <a:ext cx="2194560" cy="38100"/>
          </a:xfrm>
          <a:prstGeom prst="rect">
            <a:avLst/>
          </a:prstGeom>
          <a:gradFill flip="none" rotWithShape="1">
            <a:gsLst>
              <a:gs pos="0">
                <a:srgbClr val="29DBF4"/>
              </a:gs>
              <a:gs pos="100000">
                <a:srgbClr val="6E70F6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8640" y="1783080"/>
            <a:ext cx="11064240" cy="841248"/>
          </a:xfrm>
          <a:prstGeom prst="roundRect">
            <a:avLst>
              <a:gd name="adj" fmla="val 12000"/>
            </a:avLst>
          </a:prstGeom>
          <a:solidFill>
            <a:srgbClr val="18244D"/>
          </a:solidFill>
          <a:ln w="12700">
            <a:solidFill>
              <a:srgbClr val="6E7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1783080"/>
            <a:ext cx="109728" cy="841248"/>
          </a:xfrm>
          <a:prstGeom prst="rect">
            <a:avLst/>
          </a:prstGeom>
          <a:gradFill flip="none" rotWithShape="1">
            <a:gsLst>
              <a:gs pos="0">
                <a:srgbClr val="6E70F6"/>
              </a:gs>
              <a:gs pos="100000">
                <a:srgbClr val="29DBF4"/>
              </a:gs>
            </a:gsLst>
            <a:lin ang="54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187452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Montserrat"/>
              </a:rPr>
              <a:t>L1 — Artifact Ingestion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1874520"/>
            <a:ext cx="72694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CCD6E3"/>
                </a:solidFill>
                <a:latin typeface="Inter"/>
              </a:rPr>
              <a:t>Jira REST + Confluence    ·    GitHub REST + GraphQL    ·    Rate-limit aware    ·    Exponential back-off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43200"/>
            <a:ext cx="11064240" cy="841248"/>
          </a:xfrm>
          <a:prstGeom prst="roundRect">
            <a:avLst>
              <a:gd name="adj" fmla="val 12000"/>
            </a:avLst>
          </a:prstGeom>
          <a:solidFill>
            <a:srgbClr val="18244D"/>
          </a:solidFill>
          <a:ln w="12700">
            <a:solidFill>
              <a:srgbClr val="B19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2743200"/>
            <a:ext cx="109728" cy="841248"/>
          </a:xfrm>
          <a:prstGeom prst="rect">
            <a:avLst/>
          </a:prstGeom>
          <a:gradFill flip="none" rotWithShape="1">
            <a:gsLst>
              <a:gs pos="0">
                <a:srgbClr val="B196FB"/>
              </a:gs>
              <a:gs pos="100000">
                <a:srgbClr val="29DBF4"/>
              </a:gs>
            </a:gsLst>
            <a:lin ang="54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283464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Montserrat"/>
              </a:rPr>
              <a:t>L2 — Knowledge Extraction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2834640"/>
            <a:ext cx="72694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CCD6E3"/>
                </a:solidFill>
                <a:latin typeface="Inter"/>
              </a:rPr>
              <a:t>ADF → clean text    ·    PDF / DOCX / HTML parsers    ·    Section-aware chunker    ·    OpenAI embeddings (1536-d)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03320"/>
            <a:ext cx="11064240" cy="841248"/>
          </a:xfrm>
          <a:prstGeom prst="roundRect">
            <a:avLst>
              <a:gd name="adj" fmla="val 12000"/>
            </a:avLst>
          </a:prstGeom>
          <a:solidFill>
            <a:srgbClr val="18244D"/>
          </a:solidFill>
          <a:ln w="12700">
            <a:solidFill>
              <a:srgbClr val="29D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8640" y="3703320"/>
            <a:ext cx="109728" cy="841248"/>
          </a:xfrm>
          <a:prstGeom prst="rect">
            <a:avLst/>
          </a:prstGeom>
          <a:gradFill flip="none" rotWithShape="1">
            <a:gsLst>
              <a:gs pos="0">
                <a:srgbClr val="29DBF4"/>
              </a:gs>
              <a:gs pos="100000">
                <a:srgbClr val="29DBF4"/>
              </a:gs>
            </a:gsLst>
            <a:lin ang="54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379476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Montserrat"/>
              </a:rPr>
              <a:t>L3 — Semantic Reasoning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3794760"/>
            <a:ext cx="72694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CCD6E3"/>
                </a:solidFill>
                <a:latin typeface="Inter"/>
              </a:rPr>
              <a:t>Multi-query retriever    ·    Parallel $vectorSearch fan-out    ·    Max-pool re-ranking    ·    JSON-mode grounded answer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63440"/>
            <a:ext cx="11064240" cy="841248"/>
          </a:xfrm>
          <a:prstGeom prst="roundRect">
            <a:avLst>
              <a:gd name="adj" fmla="val 12000"/>
            </a:avLst>
          </a:prstGeom>
          <a:solidFill>
            <a:srgbClr val="18244D"/>
          </a:solidFill>
          <a:ln w="12700">
            <a:solidFill>
              <a:srgbClr val="36D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8640" y="4663440"/>
            <a:ext cx="109728" cy="841248"/>
          </a:xfrm>
          <a:prstGeom prst="rect">
            <a:avLst/>
          </a:prstGeom>
          <a:gradFill flip="none" rotWithShape="1">
            <a:gsLst>
              <a:gs pos="0">
                <a:srgbClr val="36DCC4"/>
              </a:gs>
              <a:gs pos="100000">
                <a:srgbClr val="29DBF4"/>
              </a:gs>
            </a:gsLst>
            <a:lin ang="54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475488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Montserrat"/>
              </a:rPr>
              <a:t>L4 — Agent Orchestration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0520" y="4754880"/>
            <a:ext cx="72694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CCD6E3"/>
                </a:solidFill>
                <a:latin typeface="Inter"/>
              </a:rPr>
              <a:t>Coordinator + Code-Intent (live)    ·    Traceability (on demand)    ·    Reproduction + Validation (scaffolded)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623560"/>
            <a:ext cx="11064240" cy="841248"/>
          </a:xfrm>
          <a:prstGeom prst="roundRect">
            <a:avLst>
              <a:gd name="adj" fmla="val 12000"/>
            </a:avLst>
          </a:prstGeom>
          <a:solidFill>
            <a:srgbClr val="18244D"/>
          </a:solidFill>
          <a:ln w="12700">
            <a:solidFill>
              <a:srgbClr val="FBC0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5623560"/>
            <a:ext cx="109728" cy="841248"/>
          </a:xfrm>
          <a:prstGeom prst="rect">
            <a:avLst/>
          </a:prstGeom>
          <a:gradFill flip="none" rotWithShape="1">
            <a:gsLst>
              <a:gs pos="0">
                <a:srgbClr val="FBC029"/>
              </a:gs>
              <a:gs pos="100000">
                <a:srgbClr val="29DBF4"/>
              </a:gs>
            </a:gsLst>
            <a:lin ang="54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571500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Montserrat"/>
              </a:rPr>
              <a:t>L5 — IDE Integration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5715000"/>
            <a:ext cx="72694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CCD6E3"/>
                </a:solidFill>
                <a:latin typeface="Inter"/>
              </a:rPr>
              <a:t>Single VSIX (VS Code + Cursor)    ·    Sidebar webview    ·    Right-click commands    ·    Loopback Local Git Agent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90E24"/>
              </a:gs>
              <a:gs pos="100000">
                <a:srgbClr val="121B42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gradFill flip="none" rotWithShape="1">
            <a:gsLst>
              <a:gs pos="0">
                <a:srgbClr val="29DBF4"/>
              </a:gs>
              <a:gs pos="100000">
                <a:srgbClr val="6E70F6"/>
              </a:gs>
            </a:gsLst>
            <a:lin ang="54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293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91440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 dirty="0" err="1">
                <a:solidFill>
                  <a:srgbClr val="96A5BA"/>
                </a:solidFill>
                <a:latin typeface="Inter"/>
              </a:rPr>
              <a:t>IntentEra</a:t>
            </a:r>
            <a:r>
              <a:rPr sz="1000" b="0" i="0" dirty="0">
                <a:solidFill>
                  <a:srgbClr val="96A5BA"/>
                </a:solidFill>
                <a:latin typeface="Inter"/>
              </a:rPr>
              <a:t>  ·  Final </a:t>
            </a:r>
            <a:r>
              <a:rPr lang="en-US" sz="1000" b="0" i="0" dirty="0">
                <a:solidFill>
                  <a:srgbClr val="96A5BA"/>
                </a:solidFill>
                <a:latin typeface="Inter"/>
              </a:rPr>
              <a:t>Term</a:t>
            </a:r>
            <a:r>
              <a:rPr sz="1000" b="0" i="0" dirty="0">
                <a:solidFill>
                  <a:srgbClr val="96A5BA"/>
                </a:solidFill>
                <a:latin typeface="Inter"/>
              </a:rPr>
              <a:t>  ·  Architecture · Ch 4.1</a:t>
            </a:r>
            <a:r>
              <a:rPr lang="en-US" sz="1000" dirty="0">
                <a:solidFill>
                  <a:srgbClr val="96A5BA"/>
                </a:solidFill>
                <a:latin typeface="Inter"/>
              </a:rPr>
              <a:t> – Aarya Nanndaann Singh M N (2024MT03013)</a:t>
            </a:r>
            <a:endParaRPr sz="1000" b="0" i="0" dirty="0">
              <a:solidFill>
                <a:srgbClr val="96A5BA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0" y="656539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6A5BA"/>
                </a:solidFill>
                <a:latin typeface="JetBrains Mono"/>
              </a:rPr>
              <a:t>11 /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9DBF4"/>
                </a:solidFill>
                <a:latin typeface="Montserrat"/>
              </a:rPr>
              <a:t>ARCHITECTURAL PRINCIPLES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31520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  <a:latin typeface="Montserrat"/>
              </a:rPr>
              <a:t>Five principles that shaped every decision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08760"/>
            <a:ext cx="2194560" cy="38100"/>
          </a:xfrm>
          <a:prstGeom prst="rect">
            <a:avLst/>
          </a:prstGeom>
          <a:gradFill flip="none" rotWithShape="1">
            <a:gsLst>
              <a:gs pos="0">
                <a:srgbClr val="29DBF4"/>
              </a:gs>
              <a:gs pos="100000">
                <a:srgbClr val="6E70F6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80263" y="1828800"/>
            <a:ext cx="2194560" cy="4114800"/>
          </a:xfrm>
          <a:prstGeom prst="roundRect">
            <a:avLst>
              <a:gd name="adj" fmla="val 10000"/>
            </a:avLst>
          </a:prstGeom>
          <a:solidFill>
            <a:srgbClr val="18244D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51763" y="2240280"/>
            <a:ext cx="1051560" cy="1051560"/>
          </a:xfrm>
          <a:prstGeom prst="ellipse">
            <a:avLst/>
          </a:prstGeom>
          <a:gradFill flip="none" rotWithShape="1">
            <a:gsLst>
              <a:gs pos="0">
                <a:srgbClr val="29DBF4"/>
              </a:gs>
              <a:gs pos="100000">
                <a:srgbClr val="6E70F6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3800" b="1">
                <a:solidFill>
                  <a:srgbClr val="F8FAFC"/>
                </a:solidFill>
                <a:latin typeface="Montserrat"/>
              </a:rPr>
              <a:t>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7423" y="352044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8FAFC"/>
                </a:solidFill>
                <a:latin typeface="Montserrat"/>
              </a:rPr>
              <a:t>Layered separation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855" y="4251960"/>
            <a:ext cx="1865376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CCD6E3"/>
                </a:solidFill>
                <a:latin typeface="Inter"/>
              </a:rPr>
              <a:t>Ingestion, extraction, reasoning, orchestration and IDE are independently testable and replaceable.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39415" y="1828800"/>
            <a:ext cx="2194560" cy="4114800"/>
          </a:xfrm>
          <a:prstGeom prst="roundRect">
            <a:avLst>
              <a:gd name="adj" fmla="val 10000"/>
            </a:avLst>
          </a:prstGeom>
          <a:solidFill>
            <a:srgbClr val="18244D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210915" y="2240280"/>
            <a:ext cx="1051560" cy="1051560"/>
          </a:xfrm>
          <a:prstGeom prst="ellipse">
            <a:avLst/>
          </a:prstGeom>
          <a:gradFill flip="none" rotWithShape="1">
            <a:gsLst>
              <a:gs pos="0">
                <a:srgbClr val="6E70F6"/>
              </a:gs>
              <a:gs pos="100000">
                <a:srgbClr val="6E70F6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3800" b="1">
                <a:solidFill>
                  <a:srgbClr val="F8FAFC"/>
                </a:solidFill>
                <a:latin typeface="Montserrat"/>
              </a:rPr>
              <a:t>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76575" y="352044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8FAFC"/>
                </a:solidFill>
                <a:latin typeface="Montserrat"/>
              </a:rPr>
              <a:t>Source neutrality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4007" y="4251960"/>
            <a:ext cx="1865376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CCD6E3"/>
                </a:solidFill>
                <a:latin typeface="Inter"/>
              </a:rPr>
              <a:t>Jira, GitHub and future sources share the same embedding + vector-store pipeline. New source = fetcher + normaliser only.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98567" y="1828800"/>
            <a:ext cx="2194560" cy="4114800"/>
          </a:xfrm>
          <a:prstGeom prst="roundRect">
            <a:avLst>
              <a:gd name="adj" fmla="val 10000"/>
            </a:avLst>
          </a:prstGeom>
          <a:solidFill>
            <a:srgbClr val="18244D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570067" y="2240280"/>
            <a:ext cx="1051560" cy="1051560"/>
          </a:xfrm>
          <a:prstGeom prst="ellipse">
            <a:avLst/>
          </a:prstGeom>
          <a:gradFill flip="none" rotWithShape="1">
            <a:gsLst>
              <a:gs pos="0">
                <a:srgbClr val="B196FB"/>
              </a:gs>
              <a:gs pos="100000">
                <a:srgbClr val="6E70F6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3800" b="1">
                <a:solidFill>
                  <a:srgbClr val="F8FAFC"/>
                </a:solidFill>
                <a:latin typeface="Montserrat"/>
              </a:rPr>
              <a:t>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35727" y="352044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8FAFC"/>
                </a:solidFill>
                <a:latin typeface="Montserrat"/>
              </a:rPr>
              <a:t>Idempotence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3159" y="4251960"/>
            <a:ext cx="1865376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CCD6E3"/>
                </a:solidFill>
                <a:latin typeface="Inter"/>
              </a:rPr>
              <a:t>Every chunk has a deterministic id sha256(source|entityKey|chunkSlot) — re-runs are no-ops.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57719" y="1828800"/>
            <a:ext cx="2194560" cy="4114800"/>
          </a:xfrm>
          <a:prstGeom prst="roundRect">
            <a:avLst>
              <a:gd name="adj" fmla="val 10000"/>
            </a:avLst>
          </a:prstGeom>
          <a:solidFill>
            <a:srgbClr val="18244D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929219" y="2240280"/>
            <a:ext cx="1051560" cy="1051560"/>
          </a:xfrm>
          <a:prstGeom prst="ellipse">
            <a:avLst/>
          </a:prstGeom>
          <a:gradFill flip="none" rotWithShape="1">
            <a:gsLst>
              <a:gs pos="0">
                <a:srgbClr val="FBC029"/>
              </a:gs>
              <a:gs pos="100000">
                <a:srgbClr val="6E70F6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3800" b="1">
                <a:solidFill>
                  <a:srgbClr val="F8FAFC"/>
                </a:solidFill>
                <a:latin typeface="Montserrat"/>
              </a:rPr>
              <a:t>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4879" y="352044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8FAFC"/>
                </a:solidFill>
                <a:latin typeface="Montserrat"/>
              </a:rPr>
              <a:t>Strong grounding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2311" y="4251960"/>
            <a:ext cx="1865376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CCD6E3"/>
                </a:solidFill>
                <a:latin typeface="Inter"/>
              </a:rPr>
              <a:t>The LLM never speaks without a context package. Citations not present in context are dropped before they reach the developer.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16871" y="1828800"/>
            <a:ext cx="2194560" cy="4114800"/>
          </a:xfrm>
          <a:prstGeom prst="roundRect">
            <a:avLst>
              <a:gd name="adj" fmla="val 10000"/>
            </a:avLst>
          </a:prstGeom>
          <a:solidFill>
            <a:srgbClr val="18244D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288371" y="2240280"/>
            <a:ext cx="1051560" cy="1051560"/>
          </a:xfrm>
          <a:prstGeom prst="ellipse">
            <a:avLst/>
          </a:prstGeom>
          <a:gradFill flip="none" rotWithShape="1">
            <a:gsLst>
              <a:gs pos="0">
                <a:srgbClr val="3DDA9F"/>
              </a:gs>
              <a:gs pos="100000">
                <a:srgbClr val="6E70F6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3800" b="1">
                <a:solidFill>
                  <a:srgbClr val="F8FAFC"/>
                </a:solidFill>
                <a:latin typeface="Montserrat"/>
              </a:rPr>
              <a:t>$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54031" y="352044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8FAFC"/>
                </a:solidFill>
                <a:latin typeface="Montserrat"/>
              </a:rPr>
              <a:t>Cloud-native economics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81463" y="4251960"/>
            <a:ext cx="1865376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CCD6E3"/>
                </a:solidFill>
                <a:latin typeface="Inter"/>
              </a:rPr>
              <a:t>Pay-per-invocation Lambdas + free-tier Redis keep monthly cost in single-digit US-cents for bursty developer workloads.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90E24"/>
              </a:gs>
              <a:gs pos="50000">
                <a:srgbClr val="1B1455"/>
              </a:gs>
              <a:gs pos="100000">
                <a:srgbClr val="352986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-1371600" y="5029200"/>
            <a:ext cx="15087600" cy="548640"/>
          </a:xfrm>
          <a:prstGeom prst="parallelogram">
            <a:avLst>
              <a:gd name="adj" fmla="val 40000"/>
            </a:avLst>
          </a:prstGeom>
          <a:gradFill flip="none" rotWithShape="1">
            <a:gsLst>
              <a:gs pos="0">
                <a:srgbClr val="29DBF4"/>
              </a:gs>
              <a:gs pos="50000">
                <a:srgbClr val="6E70F6"/>
              </a:gs>
              <a:gs pos="100000">
                <a:srgbClr val="B196FB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300">
                <a:solidFill>
                  <a:srgbClr val="29DBF4"/>
                </a:solidFill>
                <a:latin typeface="Montserrat"/>
              </a:rPr>
              <a:t>SECTION 03  ·  CHAPTER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800" b="1" i="0">
                <a:solidFill>
                  <a:srgbClr val="F8FAFC"/>
                </a:solidFill>
                <a:latin typeface="Montserrat"/>
              </a:rPr>
              <a:t>Chunking, Embeddings, Retrieval.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519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1">
                <a:solidFill>
                  <a:srgbClr val="CCD6E3"/>
                </a:solidFill>
                <a:latin typeface="Inter"/>
              </a:rPr>
              <a:t>The reasoning engine, the heart of IntentEra.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293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91440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 dirty="0" err="1">
                <a:solidFill>
                  <a:srgbClr val="96A5BA"/>
                </a:solidFill>
                <a:latin typeface="Inter"/>
              </a:rPr>
              <a:t>IntentEra</a:t>
            </a:r>
            <a:r>
              <a:rPr sz="1000" b="0" i="0" dirty="0">
                <a:solidFill>
                  <a:srgbClr val="96A5BA"/>
                </a:solidFill>
                <a:latin typeface="Inter"/>
              </a:rPr>
              <a:t>  ·  Final </a:t>
            </a:r>
            <a:r>
              <a:rPr lang="en-US" sz="1000" b="0" i="0" dirty="0">
                <a:solidFill>
                  <a:srgbClr val="96A5BA"/>
                </a:solidFill>
                <a:latin typeface="Inter"/>
              </a:rPr>
              <a:t>Term</a:t>
            </a:r>
            <a:r>
              <a:rPr sz="1000" b="0" i="0" dirty="0">
                <a:solidFill>
                  <a:srgbClr val="96A5BA"/>
                </a:solidFill>
                <a:latin typeface="Inter"/>
              </a:rPr>
              <a:t>  ·  Reasoning Engine</a:t>
            </a:r>
            <a:r>
              <a:rPr lang="en-US" sz="1000" dirty="0">
                <a:solidFill>
                  <a:srgbClr val="96A5BA"/>
                </a:solidFill>
                <a:latin typeface="Inter"/>
              </a:rPr>
              <a:t> – Aarya Nanndaann Singh M N (2024MT03013)</a:t>
            </a:r>
            <a:endParaRPr sz="1000" b="0" i="0" dirty="0">
              <a:solidFill>
                <a:srgbClr val="96A5BA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6A5BA"/>
                </a:solidFill>
                <a:latin typeface="JetBrains Mono"/>
              </a:rPr>
              <a:t>12 / 32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90E24"/>
              </a:gs>
              <a:gs pos="100000">
                <a:srgbClr val="121B42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gradFill flip="none" rotWithShape="1">
            <a:gsLst>
              <a:gs pos="0">
                <a:srgbClr val="29DBF4"/>
              </a:gs>
              <a:gs pos="100000">
                <a:srgbClr val="6E70F6"/>
              </a:gs>
            </a:gsLst>
            <a:lin ang="54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293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91440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 dirty="0" err="1">
                <a:solidFill>
                  <a:srgbClr val="96A5BA"/>
                </a:solidFill>
                <a:latin typeface="Inter"/>
              </a:rPr>
              <a:t>IntentEra</a:t>
            </a:r>
            <a:r>
              <a:rPr sz="1000" b="0" i="0" dirty="0">
                <a:solidFill>
                  <a:srgbClr val="96A5BA"/>
                </a:solidFill>
                <a:latin typeface="Inter"/>
              </a:rPr>
              <a:t>  ·  Final </a:t>
            </a:r>
            <a:r>
              <a:rPr lang="en-US" sz="1000" b="0" i="0" dirty="0">
                <a:solidFill>
                  <a:srgbClr val="96A5BA"/>
                </a:solidFill>
                <a:latin typeface="Inter"/>
              </a:rPr>
              <a:t>Term</a:t>
            </a:r>
            <a:r>
              <a:rPr sz="1000" b="0" i="0" dirty="0">
                <a:solidFill>
                  <a:srgbClr val="96A5BA"/>
                </a:solidFill>
                <a:latin typeface="Inter"/>
              </a:rPr>
              <a:t>  ·  Reasoning · Ch 6.1</a:t>
            </a:r>
            <a:r>
              <a:rPr lang="en-US" sz="1000" dirty="0">
                <a:solidFill>
                  <a:srgbClr val="96A5BA"/>
                </a:solidFill>
                <a:latin typeface="Inter"/>
              </a:rPr>
              <a:t> – Aarya Nanndaann Singh M N (2024MT03013)</a:t>
            </a:r>
            <a:endParaRPr sz="1000" b="0" i="0" dirty="0">
              <a:solidFill>
                <a:srgbClr val="96A5BA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0" y="656539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6A5BA"/>
                </a:solidFill>
                <a:latin typeface="JetBrains Mono"/>
              </a:rPr>
              <a:t>13 /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9DBF4"/>
                </a:solidFill>
                <a:latin typeface="Montserrat"/>
              </a:rPr>
              <a:t>MOST CONSEQUENTIAL PREPROCESSING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31520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  <a:latin typeface="Montserrat"/>
              </a:rPr>
              <a:t>Section-aware chunking — one idea per chunk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08760"/>
            <a:ext cx="2194560" cy="38100"/>
          </a:xfrm>
          <a:prstGeom prst="rect">
            <a:avLst/>
          </a:prstGeom>
          <a:gradFill flip="none" rotWithShape="1">
            <a:gsLst>
              <a:gs pos="0">
                <a:srgbClr val="29DBF4"/>
              </a:gs>
              <a:gs pos="100000">
                <a:srgbClr val="6E70F6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ig_chunking_strate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266" y="1783080"/>
            <a:ext cx="6076188" cy="40507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907024"/>
            <a:ext cx="69494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96A5BA"/>
                </a:solidFill>
                <a:latin typeface="Inter"/>
              </a:rPr>
              <a:t>Per-artifact section-aware chunking (Fig. 32, dissertation).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1783080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FBC029"/>
                </a:solidFill>
                <a:latin typeface="Montserrat"/>
              </a:rPr>
              <a:t>WHY NOT UNIFORM-LENGTH?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103120"/>
            <a:ext cx="4023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CCD6E3"/>
                </a:solidFill>
                <a:latin typeface="Inter"/>
              </a:rPr>
              <a:t>Naive splits destroy semantic structure — a key claim can land across two chunks, halving the chance retrieval ever finds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3337560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9DBF4"/>
                </a:solidFill>
                <a:latin typeface="Montserrat"/>
              </a:rPr>
              <a:t>CHUNK TYPES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36576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9DBF4"/>
                </a:solidFill>
                <a:latin typeface="Montserrat"/>
              </a:rPr>
              <a:t>Jira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365760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CCD6E3"/>
                </a:solidFill>
                <a:latin typeface="JetBrains Mono"/>
              </a:rPr>
              <a:t>metadata · description · comment · attachment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404164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6E70F6"/>
                </a:solidFill>
                <a:latin typeface="Montserrat"/>
              </a:rPr>
              <a:t>GitHub commits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4041648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CCD6E3"/>
                </a:solidFill>
                <a:latin typeface="JetBrains Mono"/>
              </a:rPr>
              <a:t>commit message · diff summary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442569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B196FB"/>
                </a:solidFill>
                <a:latin typeface="Montserrat"/>
              </a:rPr>
              <a:t>Pull requests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4425696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CCD6E3"/>
                </a:solidFill>
                <a:latin typeface="JetBrains Mono"/>
              </a:rPr>
              <a:t>PR body · review threads (grouped)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480974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36DCC4"/>
                </a:solidFill>
                <a:latin typeface="Montserrat"/>
              </a:rPr>
              <a:t>Issues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4809744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CCD6E3"/>
                </a:solidFill>
                <a:latin typeface="JetBrains Mono"/>
              </a:rPr>
              <a:t>body · comments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519379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BC029"/>
                </a:solidFill>
                <a:latin typeface="Montserrat"/>
              </a:rPr>
              <a:t>Confluence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519379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CCD6E3"/>
                </a:solidFill>
                <a:latin typeface="JetBrains Mono"/>
              </a:rPr>
              <a:t>page sections · attachments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5623560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96A5BA"/>
                </a:solidFill>
                <a:latin typeface="JetBrains Mono"/>
              </a:rPr>
              <a:t>Token caps configurable via *_MAX_TOKENS</a:t>
            </a:r>
          </a:p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96A5BA"/>
                </a:solidFill>
                <a:latin typeface="JetBrains Mono"/>
              </a:rPr>
              <a:t>and *_GROUP_SIZE environment variables.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90E24"/>
              </a:gs>
              <a:gs pos="100000">
                <a:srgbClr val="121B42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gradFill flip="none" rotWithShape="1">
            <a:gsLst>
              <a:gs pos="0">
                <a:srgbClr val="29DBF4"/>
              </a:gs>
              <a:gs pos="100000">
                <a:srgbClr val="6E70F6"/>
              </a:gs>
            </a:gsLst>
            <a:lin ang="54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293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91440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 dirty="0" err="1">
                <a:solidFill>
                  <a:srgbClr val="96A5BA"/>
                </a:solidFill>
                <a:latin typeface="Inter"/>
              </a:rPr>
              <a:t>IntentEra</a:t>
            </a:r>
            <a:r>
              <a:rPr sz="1000" b="0" i="0" dirty="0">
                <a:solidFill>
                  <a:srgbClr val="96A5BA"/>
                </a:solidFill>
                <a:latin typeface="Inter"/>
              </a:rPr>
              <a:t>  ·  Final </a:t>
            </a:r>
            <a:r>
              <a:rPr lang="en-US" sz="1000" b="0" i="0" dirty="0">
                <a:solidFill>
                  <a:srgbClr val="96A5BA"/>
                </a:solidFill>
                <a:latin typeface="Inter"/>
              </a:rPr>
              <a:t>Term</a:t>
            </a:r>
            <a:r>
              <a:rPr sz="1000" b="0" i="0" dirty="0">
                <a:solidFill>
                  <a:srgbClr val="96A5BA"/>
                </a:solidFill>
                <a:latin typeface="Inter"/>
              </a:rPr>
              <a:t>  ·  Reasoning · Ch 6.2 – 6.3</a:t>
            </a:r>
            <a:r>
              <a:rPr lang="en-US" sz="1000" dirty="0">
                <a:solidFill>
                  <a:srgbClr val="96A5BA"/>
                </a:solidFill>
                <a:latin typeface="Inter"/>
              </a:rPr>
              <a:t> – Aarya Nanndaann Singh M N (2024MT03013)</a:t>
            </a:r>
            <a:endParaRPr sz="1000" b="0" i="0" dirty="0">
              <a:solidFill>
                <a:srgbClr val="96A5BA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0" y="656539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6A5BA"/>
                </a:solidFill>
                <a:latin typeface="JetBrains Mono"/>
              </a:rPr>
              <a:t>14 /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9DBF4"/>
                </a:solidFill>
                <a:latin typeface="Montserrat"/>
              </a:rPr>
              <a:t>WHY INCREMENTAL SYNC IS SAFE AND CHEAP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31520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  <a:latin typeface="Montserrat"/>
              </a:rPr>
              <a:t>Idempotent ids + 1536-dim embeddings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08760"/>
            <a:ext cx="2194560" cy="38100"/>
          </a:xfrm>
          <a:prstGeom prst="rect">
            <a:avLst/>
          </a:prstGeom>
          <a:gradFill flip="none" rotWithShape="1">
            <a:gsLst>
              <a:gs pos="0">
                <a:srgbClr val="29DBF4"/>
              </a:gs>
              <a:gs pos="100000">
                <a:srgbClr val="6E70F6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8640" y="1783080"/>
            <a:ext cx="11064240" cy="1417320"/>
          </a:xfrm>
          <a:prstGeom prst="roundRect">
            <a:avLst>
              <a:gd name="adj" fmla="val 8000"/>
            </a:avLst>
          </a:prstGeom>
          <a:solidFill>
            <a:srgbClr val="090E24"/>
          </a:solidFill>
          <a:ln w="9525">
            <a:solidFill>
              <a:srgbClr val="6E70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9DBF4"/>
                </a:solidFill>
                <a:latin typeface="Montserrat"/>
              </a:rPr>
              <a:t>DETERMINISTIC CHUNK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8600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8FAFC"/>
                </a:solidFill>
                <a:latin typeface="JetBrains Mono"/>
              </a:rPr>
              <a:t>_id  =  sha256( source | entityKey | chunkSlot 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852928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96A5BA"/>
                </a:solidFill>
                <a:latin typeface="Inter"/>
              </a:rPr>
              <a:t>Re-ingesting the same artifact produces the same ids — MongoDB upsert is a no-op when nothing has changed, a consistent overwrite when it has.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8299" y="3520440"/>
            <a:ext cx="3520440" cy="1691640"/>
          </a:xfrm>
          <a:prstGeom prst="roundRect">
            <a:avLst>
              <a:gd name="adj" fmla="val 12000"/>
            </a:avLst>
          </a:prstGeom>
          <a:solidFill>
            <a:srgbClr val="18244D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68299" y="3520440"/>
            <a:ext cx="3520440" cy="45720"/>
          </a:xfrm>
          <a:prstGeom prst="rect">
            <a:avLst/>
          </a:prstGeom>
          <a:gradFill flip="none" rotWithShape="1">
            <a:gsLst>
              <a:gs pos="0">
                <a:srgbClr val="29DBF4"/>
              </a:gs>
              <a:gs pos="100000">
                <a:srgbClr val="6E70F6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9467" y="3685032"/>
            <a:ext cx="311810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8FAFC"/>
                </a:solidFill>
                <a:latin typeface="Montserrat"/>
              </a:rPr>
              <a:t>1,536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467" y="4581144"/>
            <a:ext cx="311810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29DBF4"/>
                </a:solidFill>
                <a:latin typeface="Montserrat"/>
              </a:rPr>
              <a:t>EMBEDDING DIMENSIONS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467" y="4892040"/>
            <a:ext cx="311810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CCD6E3"/>
                </a:solidFill>
                <a:latin typeface="Inter"/>
              </a:rPr>
              <a:t>OpenAI text-embedding-3-small — shared across natural language and code-adjacent artifacts.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35627" y="3520440"/>
            <a:ext cx="3520440" cy="1691640"/>
          </a:xfrm>
          <a:prstGeom prst="roundRect">
            <a:avLst>
              <a:gd name="adj" fmla="val 12000"/>
            </a:avLst>
          </a:prstGeom>
          <a:solidFill>
            <a:srgbClr val="18244D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35627" y="3520440"/>
            <a:ext cx="3520440" cy="45720"/>
          </a:xfrm>
          <a:prstGeom prst="rect">
            <a:avLst/>
          </a:prstGeom>
          <a:gradFill flip="none" rotWithShape="1">
            <a:gsLst>
              <a:gs pos="0">
                <a:srgbClr val="B196FB"/>
              </a:gs>
              <a:gs pos="100000">
                <a:srgbClr val="6E70F6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36795" y="3685032"/>
            <a:ext cx="311810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8FAFC"/>
                </a:solidFill>
                <a:latin typeface="Montserrat"/>
              </a:rPr>
              <a:t>1× class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6795" y="4581144"/>
            <a:ext cx="311810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B196FB"/>
                </a:solidFill>
                <a:latin typeface="Montserrat"/>
              </a:rPr>
              <a:t>PLUGGABLE EMBEDDER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6795" y="4892040"/>
            <a:ext cx="311810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CCD6E3"/>
                </a:solidFill>
                <a:latin typeface="Inter"/>
              </a:rPr>
              <a:t>Swap to a code-specialised model by changing one constructor — no other code touches.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2955" y="3520440"/>
            <a:ext cx="3520440" cy="1691640"/>
          </a:xfrm>
          <a:prstGeom prst="roundRect">
            <a:avLst>
              <a:gd name="adj" fmla="val 12000"/>
            </a:avLst>
          </a:prstGeom>
          <a:solidFill>
            <a:srgbClr val="18244D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102955" y="3520440"/>
            <a:ext cx="3520440" cy="45720"/>
          </a:xfrm>
          <a:prstGeom prst="rect">
            <a:avLst/>
          </a:prstGeom>
          <a:gradFill flip="none" rotWithShape="1">
            <a:gsLst>
              <a:gs pos="0">
                <a:srgbClr val="36DCC4"/>
              </a:gs>
              <a:gs pos="100000">
                <a:srgbClr val="6E70F6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04123" y="3685032"/>
            <a:ext cx="311810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8FAFC"/>
                </a:solidFill>
                <a:latin typeface="Montserrat"/>
              </a:rPr>
              <a:t>Batched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4123" y="4581144"/>
            <a:ext cx="311810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36DCC4"/>
                </a:solidFill>
                <a:latin typeface="Montserrat"/>
              </a:rPr>
              <a:t>SINGLE ROUND-TRIP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4123" y="4892040"/>
            <a:ext cx="311810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CCD6E3"/>
                </a:solidFill>
                <a:latin typeface="Inter"/>
              </a:rPr>
              <a:t>All query embeddings batched in one OpenAI call. Exponential back-off on transient failures.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53212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1">
                <a:solidFill>
                  <a:srgbClr val="CCD6E3"/>
                </a:solidFill>
                <a:latin typeface="Inter"/>
              </a:rPr>
              <a:t>→  Hourly incremental sync re-embeds only what changed since the previous run — the dominant external cost lever, controlled by design.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90E24"/>
              </a:gs>
              <a:gs pos="100000">
                <a:srgbClr val="121B42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gradFill flip="none" rotWithShape="1">
            <a:gsLst>
              <a:gs pos="0">
                <a:srgbClr val="29DBF4"/>
              </a:gs>
              <a:gs pos="100000">
                <a:srgbClr val="6E70F6"/>
              </a:gs>
            </a:gsLst>
            <a:lin ang="54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293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91440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 dirty="0" err="1">
                <a:solidFill>
                  <a:srgbClr val="96A5BA"/>
                </a:solidFill>
                <a:latin typeface="Inter"/>
              </a:rPr>
              <a:t>IntentEra</a:t>
            </a:r>
            <a:r>
              <a:rPr sz="1000" b="0" i="0" dirty="0">
                <a:solidFill>
                  <a:srgbClr val="96A5BA"/>
                </a:solidFill>
                <a:latin typeface="Inter"/>
              </a:rPr>
              <a:t>  ·  Final </a:t>
            </a:r>
            <a:r>
              <a:rPr lang="en-US" sz="1000" b="0" i="0" dirty="0">
                <a:solidFill>
                  <a:srgbClr val="96A5BA"/>
                </a:solidFill>
                <a:latin typeface="Inter"/>
              </a:rPr>
              <a:t>Term</a:t>
            </a:r>
            <a:r>
              <a:rPr sz="1000" b="0" i="0" dirty="0">
                <a:solidFill>
                  <a:srgbClr val="96A5BA"/>
                </a:solidFill>
                <a:latin typeface="Inter"/>
              </a:rPr>
              <a:t>  ·  Reasoning · Ch 5.6</a:t>
            </a:r>
            <a:r>
              <a:rPr lang="en-US" sz="1000" dirty="0">
                <a:solidFill>
                  <a:srgbClr val="96A5BA"/>
                </a:solidFill>
                <a:latin typeface="Inter"/>
              </a:rPr>
              <a:t> – Aarya Nanndaann Singh M N (2024MT03013)</a:t>
            </a:r>
            <a:endParaRPr sz="1000" b="0" i="0" dirty="0">
              <a:solidFill>
                <a:srgbClr val="96A5BA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0" y="656539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6A5BA"/>
                </a:solidFill>
                <a:latin typeface="JetBrains Mono"/>
              </a:rPr>
              <a:t>15 /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9DBF4"/>
                </a:solidFill>
                <a:latin typeface="Montserrat"/>
              </a:rPr>
              <a:t>MONGODB ATLAS VECTOR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31520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  <a:latin typeface="Montserrat"/>
              </a:rPr>
              <a:t>Two collections, one cluster, hybrid filters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08760"/>
            <a:ext cx="2194560" cy="38100"/>
          </a:xfrm>
          <a:prstGeom prst="rect">
            <a:avLst/>
          </a:prstGeom>
          <a:gradFill flip="none" rotWithShape="1">
            <a:gsLst>
              <a:gs pos="0">
                <a:srgbClr val="29DBF4"/>
              </a:gs>
              <a:gs pos="100000">
                <a:srgbClr val="6E70F6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6035040" cy="2011680"/>
          </a:xfrm>
          <a:prstGeom prst="roundRect">
            <a:avLst>
              <a:gd name="adj" fmla="val 8000"/>
            </a:avLst>
          </a:prstGeom>
          <a:solidFill>
            <a:srgbClr val="18244D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6035040" cy="38100"/>
          </a:xfrm>
          <a:prstGeom prst="rect">
            <a:avLst/>
          </a:prstGeom>
          <a:gradFill flip="none" rotWithShape="1">
            <a:gsLst>
              <a:gs pos="0">
                <a:srgbClr val="29DBF4"/>
              </a:gs>
              <a:gs pos="100000">
                <a:srgbClr val="6E70F6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1993392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8FAFC"/>
                </a:solidFill>
                <a:latin typeface="JetBrains Mono"/>
              </a:rPr>
              <a:t>rag_chunks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395728"/>
            <a:ext cx="5669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9DBF4"/>
                </a:solidFill>
                <a:latin typeface="Montserrat"/>
              </a:rPr>
              <a:t>Source: Jira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43200"/>
            <a:ext cx="566928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CCD6E3"/>
                </a:solidFill>
                <a:latin typeface="JetBrains Mono"/>
              </a:rPr>
              <a:t>_id · ticketKey · projectKey · type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CCD6E3"/>
                </a:solidFill>
                <a:latin typeface="JetBrains Mono"/>
              </a:rPr>
              <a:t>(metadata / description / comment / attachment)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CCD6E3"/>
                </a:solidFill>
                <a:latin typeface="JetBrains Mono"/>
              </a:rPr>
              <a:t>chunkIndex · text · embedding[1536]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69080"/>
            <a:ext cx="6035040" cy="2011680"/>
          </a:xfrm>
          <a:prstGeom prst="roundRect">
            <a:avLst>
              <a:gd name="adj" fmla="val 8000"/>
            </a:avLst>
          </a:prstGeom>
          <a:solidFill>
            <a:srgbClr val="18244D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4069080"/>
            <a:ext cx="6035040" cy="38100"/>
          </a:xfrm>
          <a:prstGeom prst="rect">
            <a:avLst/>
          </a:prstGeom>
          <a:gradFill flip="none" rotWithShape="1">
            <a:gsLst>
              <a:gs pos="0">
                <a:srgbClr val="B196FB"/>
              </a:gs>
              <a:gs pos="100000">
                <a:srgbClr val="6E70F6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4233672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8FAFC"/>
                </a:solidFill>
                <a:latin typeface="JetBrains Mono"/>
              </a:rPr>
              <a:t>rag_chunks_github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636008"/>
            <a:ext cx="5669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B196FB"/>
                </a:solidFill>
                <a:latin typeface="Montserrat"/>
              </a:rPr>
              <a:t>Source: GitHub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983480"/>
            <a:ext cx="566928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CCD6E3"/>
                </a:solidFill>
                <a:latin typeface="JetBrains Mono"/>
              </a:rPr>
              <a:t>_id · entityKey (e.g. commit:&lt;sha&gt;) · entityType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CCD6E3"/>
                </a:solidFill>
                <a:latin typeface="JetBrains Mono"/>
              </a:rPr>
              <a:t>repoFullName · branches · prNumber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CCD6E3"/>
                </a:solidFill>
                <a:latin typeface="JetBrains Mono"/>
              </a:rPr>
              <a:t>chunkSlot · text · embedding[1536]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60" y="1828800"/>
            <a:ext cx="4846320" cy="2011680"/>
          </a:xfrm>
          <a:prstGeom prst="roundRect">
            <a:avLst>
              <a:gd name="adj" fmla="val 8000"/>
            </a:avLst>
          </a:prstGeom>
          <a:solidFill>
            <a:srgbClr val="1F2D5F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49440" y="1965960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3DDA9F"/>
                </a:solidFill>
                <a:latin typeface="Montserrat"/>
              </a:rPr>
              <a:t>ATLAS CLUSTER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22860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8FAFC"/>
                </a:solidFill>
                <a:latin typeface="Montserrat"/>
              </a:rPr>
              <a:t>M10  ·  Three-node Replica Set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2697480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CCD6E3"/>
                </a:solidFill>
                <a:latin typeface="JetBrains Mono"/>
              </a:rPr>
              <a:t>ap-south-2 (Hyderabad)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3063240"/>
            <a:ext cx="45720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CCD6E3"/>
                </a:solidFill>
                <a:latin typeface="Inter"/>
              </a:rPr>
              <a:t>Two vector indexes — vector_index and vector_index_github — over the 1536-dim embedding field, plus per-source filter fields for hybrid IR + neural queries.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66560" y="4069080"/>
            <a:ext cx="4846320" cy="2103120"/>
          </a:xfrm>
          <a:prstGeom prst="roundRect">
            <a:avLst>
              <a:gd name="adj" fmla="val 8000"/>
            </a:avLst>
          </a:prstGeom>
          <a:solidFill>
            <a:srgbClr val="18244D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49440" y="4206240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9DBF4"/>
                </a:solidFill>
                <a:latin typeface="Montserrat"/>
              </a:rPr>
              <a:t>WHY THE REGION SPLIT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4526280"/>
            <a:ext cx="45720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CCD6E3"/>
                </a:solidFill>
                <a:latin typeface="Inter"/>
              </a:rPr>
              <a:t>AWS workload in ap-south-1 (Mumbai) — proximity to the team.</a:t>
            </a:r>
          </a:p>
          <a:p>
            <a:pPr algn="l">
              <a:lnSpc>
                <a:spcPct val="140000"/>
              </a:lnSpc>
            </a:pPr>
            <a:endParaRPr sz="1200" b="0" i="0">
              <a:solidFill>
                <a:srgbClr val="CCD6E3"/>
              </a:solidFill>
              <a:latin typeface="Inter"/>
            </a:endParaRP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CCD6E3"/>
                </a:solidFill>
                <a:latin typeface="Inter"/>
              </a:rPr>
              <a:t>Atlas in ap-south-2 (Hyderabad) — additional redundancy without trans-oceanic latency on every query.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90E24"/>
              </a:gs>
              <a:gs pos="100000">
                <a:srgbClr val="121B42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gradFill flip="none" rotWithShape="1">
            <a:gsLst>
              <a:gs pos="0">
                <a:srgbClr val="29DBF4"/>
              </a:gs>
              <a:gs pos="100000">
                <a:srgbClr val="6E70F6"/>
              </a:gs>
            </a:gsLst>
            <a:lin ang="54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293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91440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 dirty="0" err="1">
                <a:solidFill>
                  <a:srgbClr val="96A5BA"/>
                </a:solidFill>
                <a:latin typeface="Inter"/>
              </a:rPr>
              <a:t>IntentEra</a:t>
            </a:r>
            <a:r>
              <a:rPr sz="1000" b="0" i="0" dirty="0">
                <a:solidFill>
                  <a:srgbClr val="96A5BA"/>
                </a:solidFill>
                <a:latin typeface="Inter"/>
              </a:rPr>
              <a:t>  ·  Final </a:t>
            </a:r>
            <a:r>
              <a:rPr lang="en-US" sz="1000" b="0" i="0" dirty="0">
                <a:solidFill>
                  <a:srgbClr val="96A5BA"/>
                </a:solidFill>
                <a:latin typeface="Inter"/>
              </a:rPr>
              <a:t>Term</a:t>
            </a:r>
            <a:r>
              <a:rPr sz="1000" b="0" i="0" dirty="0">
                <a:solidFill>
                  <a:srgbClr val="96A5BA"/>
                </a:solidFill>
                <a:latin typeface="Inter"/>
              </a:rPr>
              <a:t>  ·  Reasoning · Ch 6.4</a:t>
            </a:r>
            <a:r>
              <a:rPr lang="en-US" sz="1000" dirty="0">
                <a:solidFill>
                  <a:srgbClr val="96A5BA"/>
                </a:solidFill>
                <a:latin typeface="Inter"/>
              </a:rPr>
              <a:t> – Aarya Nanndaann Singh M N (2024MT03013)</a:t>
            </a:r>
            <a:endParaRPr sz="1000" b="0" i="0" dirty="0">
              <a:solidFill>
                <a:srgbClr val="96A5BA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0" y="656539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6A5BA"/>
                </a:solidFill>
                <a:latin typeface="JetBrains Mono"/>
              </a:rPr>
              <a:t>16 /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9DBF4"/>
                </a:solidFill>
                <a:latin typeface="Montserrat"/>
              </a:rPr>
              <a:t>QUESTION + COMMIT SUBJECTS → GROUNDED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31520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  <a:latin typeface="Montserrat"/>
              </a:rPr>
              <a:t>Multi-query retriever — the heart of the engine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08760"/>
            <a:ext cx="2194560" cy="38100"/>
          </a:xfrm>
          <a:prstGeom prst="rect">
            <a:avLst/>
          </a:prstGeom>
          <a:gradFill flip="none" rotWithShape="1">
            <a:gsLst>
              <a:gs pos="0">
                <a:srgbClr val="29DBF4"/>
              </a:gs>
              <a:gs pos="100000">
                <a:srgbClr val="6E70F6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ig_rag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826" y="1783080"/>
            <a:ext cx="6076188" cy="40507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907024"/>
            <a:ext cx="67665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96A5BA"/>
                </a:solidFill>
                <a:latin typeface="Inter"/>
              </a:rPr>
              <a:t>Multi-query RAG fan-out (Fig. 33, dissertation).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1783080"/>
            <a:ext cx="4297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9DBF4"/>
                </a:solidFill>
                <a:latin typeface="Montserrat"/>
              </a:rPr>
              <a:t>ALGORITHM — FOUR STEPS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219456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29D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90E24"/>
                </a:solidFill>
                <a:latin typeface="JetBrains Mono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194560"/>
            <a:ext cx="35204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Montserrat"/>
              </a:rPr>
              <a:t>Dedupe &amp; batch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523744"/>
            <a:ext cx="3520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CD6E3"/>
                </a:solidFill>
                <a:latin typeface="Inter"/>
              </a:rPr>
              <a:t>Concatenate question + unique local commit subjects → list Q.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315468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6E7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90E24"/>
                </a:solidFill>
                <a:latin typeface="JetBrains Mono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154680"/>
            <a:ext cx="35204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Montserrat"/>
              </a:rPr>
              <a:t>Embed once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483864"/>
            <a:ext cx="3520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CD6E3"/>
                </a:solidFill>
                <a:latin typeface="Inter"/>
              </a:rPr>
              <a:t>All K queries embedded in a single OpenAI call.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411480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B19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90E24"/>
                </a:solidFill>
                <a:latin typeface="JetBrains Mono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4114800"/>
            <a:ext cx="35204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Montserrat"/>
              </a:rPr>
              <a:t>Parallel $vectorSearch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443984"/>
            <a:ext cx="3520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CD6E3"/>
                </a:solidFill>
                <a:latin typeface="Inter"/>
              </a:rPr>
              <a:t>Each embedding → both Atlas collections, top-K = 3.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507492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FBC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90E24"/>
                </a:solidFill>
                <a:latin typeface="JetBrains Mono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5074920"/>
            <a:ext cx="35204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Montserrat"/>
              </a:rPr>
              <a:t>Max-pool merge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5404104"/>
            <a:ext cx="3520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CD6E3"/>
                </a:solidFill>
                <a:latin typeface="Inter"/>
              </a:rPr>
              <a:t>Group by chunkId, keep max score, sort, slice to top N (= 12).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90E24"/>
              </a:gs>
              <a:gs pos="100000">
                <a:srgbClr val="121B42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gradFill flip="none" rotWithShape="1">
            <a:gsLst>
              <a:gs pos="0">
                <a:srgbClr val="29DBF4"/>
              </a:gs>
              <a:gs pos="100000">
                <a:srgbClr val="6E70F6"/>
              </a:gs>
            </a:gsLst>
            <a:lin ang="54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293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91440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 dirty="0" err="1">
                <a:solidFill>
                  <a:srgbClr val="96A5BA"/>
                </a:solidFill>
                <a:latin typeface="Inter"/>
              </a:rPr>
              <a:t>IntentEra</a:t>
            </a:r>
            <a:r>
              <a:rPr sz="1000" b="0" i="0" dirty="0">
                <a:solidFill>
                  <a:srgbClr val="96A5BA"/>
                </a:solidFill>
                <a:latin typeface="Inter"/>
              </a:rPr>
              <a:t>  ·  Final </a:t>
            </a:r>
            <a:r>
              <a:rPr lang="en-US" sz="1000" b="0" i="0" dirty="0">
                <a:solidFill>
                  <a:srgbClr val="96A5BA"/>
                </a:solidFill>
                <a:latin typeface="Inter"/>
              </a:rPr>
              <a:t>Term</a:t>
            </a:r>
            <a:r>
              <a:rPr sz="1000" b="0" i="0" dirty="0">
                <a:solidFill>
                  <a:srgbClr val="96A5BA"/>
                </a:solidFill>
                <a:latin typeface="Inter"/>
              </a:rPr>
              <a:t>  ·  Reasoning · Ch 6.4 (rationale)</a:t>
            </a:r>
            <a:r>
              <a:rPr lang="en-US" sz="1000" dirty="0">
                <a:solidFill>
                  <a:srgbClr val="96A5BA"/>
                </a:solidFill>
                <a:latin typeface="Inter"/>
              </a:rPr>
              <a:t> – Aarya Nanndaann Singh M N (2024MT03013)</a:t>
            </a:r>
            <a:endParaRPr sz="1000" b="0" i="0" dirty="0">
              <a:solidFill>
                <a:srgbClr val="96A5BA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0" y="656539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6A5BA"/>
                </a:solidFill>
                <a:latin typeface="JetBrains Mono"/>
              </a:rPr>
              <a:t>17 /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9DBF4"/>
                </a:solidFill>
                <a:latin typeface="Montserrat"/>
              </a:rPr>
              <a:t>RE-RANKING DESIGN CHOICE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31520"/>
            <a:ext cx="1115568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3000" b="1" i="0" dirty="0">
                <a:solidFill>
                  <a:srgbClr val="F8FAFC"/>
                </a:solidFill>
                <a:latin typeface="Montserrat"/>
              </a:rPr>
              <a:t>Why — and why not the obvious alternatives </a:t>
            </a:r>
            <a:r>
              <a:rPr lang="en-IN" sz="3000" b="1" dirty="0">
                <a:solidFill>
                  <a:srgbClr val="F8FAFC"/>
                </a:solidFill>
                <a:latin typeface="Montserrat"/>
              </a:rPr>
              <a:t>max-pool</a:t>
            </a:r>
            <a:endParaRPr lang="en-IN" sz="3000" b="1" i="0" dirty="0">
              <a:solidFill>
                <a:srgbClr val="F8FAFC"/>
              </a:solidFill>
              <a:latin typeface="Montserra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508760"/>
            <a:ext cx="2194560" cy="38100"/>
          </a:xfrm>
          <a:prstGeom prst="rect">
            <a:avLst/>
          </a:prstGeom>
          <a:gradFill flip="none" rotWithShape="1">
            <a:gsLst>
              <a:gs pos="0">
                <a:srgbClr val="29DBF4"/>
              </a:gs>
              <a:gs pos="100000">
                <a:srgbClr val="6E70F6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11064240" cy="1325880"/>
          </a:xfrm>
          <a:prstGeom prst="roundRect">
            <a:avLst>
              <a:gd name="adj" fmla="val 6000"/>
            </a:avLst>
          </a:prstGeom>
          <a:solidFill>
            <a:srgbClr val="18244D"/>
          </a:solidFill>
          <a:ln w="1905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164592" cy="13258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1993392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Montserrat"/>
              </a:rPr>
              <a:t>Average score across queries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20116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F87171"/>
                </a:solidFill>
                <a:latin typeface="Montserrat"/>
              </a:rPr>
              <a:t>✗  Rejected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42316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CD6E3"/>
                </a:solidFill>
                <a:latin typeface="Inter"/>
              </a:rPr>
              <a:t>Dilutes a chunk that is decisively relevant to one query but only weakly relevant to another — exactly the signal we want to preserve.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19272"/>
            <a:ext cx="11064240" cy="1325880"/>
          </a:xfrm>
          <a:prstGeom prst="roundRect">
            <a:avLst>
              <a:gd name="adj" fmla="val 6000"/>
            </a:avLst>
          </a:prstGeom>
          <a:solidFill>
            <a:srgbClr val="18244D"/>
          </a:solidFill>
          <a:ln w="1905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3319272"/>
            <a:ext cx="164592" cy="13258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483864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Montserrat"/>
              </a:rPr>
              <a:t>Concatenate queries into one string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3502152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F87171"/>
                </a:solidFill>
                <a:latin typeface="Montserrat"/>
              </a:rPr>
              <a:t>✗  Rejected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913632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CD6E3"/>
                </a:solidFill>
                <a:latin typeface="Inter"/>
              </a:rPr>
              <a:t>Conflates orthogonal signals into a single embedding, degrading retrieval quality for every individual query.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2087" y="4823191"/>
            <a:ext cx="11064240" cy="1325880"/>
          </a:xfrm>
          <a:prstGeom prst="roundRect">
            <a:avLst>
              <a:gd name="adj" fmla="val 6000"/>
            </a:avLst>
          </a:prstGeom>
          <a:solidFill>
            <a:srgbClr val="18244D"/>
          </a:solidFill>
          <a:ln w="19050">
            <a:solidFill>
              <a:srgbClr val="3DDA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4809744"/>
            <a:ext cx="164592" cy="1325880"/>
          </a:xfrm>
          <a:prstGeom prst="rect">
            <a:avLst/>
          </a:prstGeom>
          <a:solidFill>
            <a:srgbClr val="3DD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974336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Montserrat"/>
              </a:rPr>
              <a:t>Max-pool by chunkId  ←  the choice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992624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3DDA9F"/>
                </a:solidFill>
                <a:latin typeface="Montserrat"/>
              </a:rPr>
              <a:t>✓  Adopted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404104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CD6E3"/>
                </a:solidFill>
                <a:latin typeface="Inter"/>
              </a:rPr>
              <a:t>Keep the maximum score across queries for each chunk. A ticket whose title closely matches one commit subject is promoted into the top of the merged list, even when its match against the user's question is moderate.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3727" y="5815584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1" dirty="0">
                <a:solidFill>
                  <a:srgbClr val="29DBF4"/>
                </a:solidFill>
                <a:latin typeface="Inter"/>
              </a:rPr>
              <a:t>→  Max-pool is essentially a soft ensemble — it lets the strongest evidence per chunk speak, regardless of which query found 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447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90E24"/>
              </a:gs>
              <a:gs pos="100000">
                <a:srgbClr val="121B42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3447" y="0"/>
            <a:ext cx="73152" cy="6858000"/>
          </a:xfrm>
          <a:prstGeom prst="rect">
            <a:avLst/>
          </a:prstGeom>
          <a:gradFill flip="none" rotWithShape="1">
            <a:gsLst>
              <a:gs pos="0">
                <a:srgbClr val="29DBF4"/>
              </a:gs>
              <a:gs pos="100000">
                <a:srgbClr val="6E70F6"/>
              </a:gs>
            </a:gsLst>
            <a:lin ang="54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62087" y="6492240"/>
            <a:ext cx="11064240" cy="9525"/>
          </a:xfrm>
          <a:prstGeom prst="rect">
            <a:avLst/>
          </a:prstGeom>
          <a:solidFill>
            <a:srgbClr val="293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75534" y="6565392"/>
            <a:ext cx="91440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 dirty="0" err="1">
                <a:solidFill>
                  <a:srgbClr val="96A5BA"/>
                </a:solidFill>
                <a:latin typeface="Inter"/>
              </a:rPr>
              <a:t>IntentEra</a:t>
            </a:r>
            <a:r>
              <a:rPr sz="1000" b="0" i="0" dirty="0">
                <a:solidFill>
                  <a:srgbClr val="96A5BA"/>
                </a:solidFill>
                <a:latin typeface="Inter"/>
              </a:rPr>
              <a:t>  ·  Final </a:t>
            </a:r>
            <a:r>
              <a:rPr lang="en-US" sz="1000" b="0" i="0" dirty="0">
                <a:solidFill>
                  <a:srgbClr val="96A5BA"/>
                </a:solidFill>
                <a:latin typeface="Inter"/>
              </a:rPr>
              <a:t>Term</a:t>
            </a:r>
            <a:r>
              <a:rPr sz="1000" b="0" i="0" dirty="0">
                <a:solidFill>
                  <a:srgbClr val="96A5BA"/>
                </a:solidFill>
                <a:latin typeface="Inter"/>
              </a:rPr>
              <a:t>  ·  Reasoning · Ch 6.5 </a:t>
            </a:r>
            <a:r>
              <a:rPr lang="en-US" sz="1000" dirty="0">
                <a:solidFill>
                  <a:srgbClr val="96A5BA"/>
                </a:solidFill>
                <a:latin typeface="Inter"/>
              </a:rPr>
              <a:t>– Aarya Nanndaann Singh M N (2024MT03013)</a:t>
            </a:r>
            <a:endParaRPr sz="1000" b="0" i="0" dirty="0">
              <a:solidFill>
                <a:srgbClr val="96A5BA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20487" y="656539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6A5BA"/>
                </a:solidFill>
                <a:latin typeface="JetBrains Mono"/>
              </a:rPr>
              <a:t>18 /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2087" y="411480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9DBF4"/>
                </a:solidFill>
                <a:latin typeface="Montserrat"/>
              </a:rPr>
              <a:t>LLM ANSWER COMPOSITION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087" y="731520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  <a:latin typeface="Montserrat"/>
              </a:rPr>
              <a:t>Three-layer defence against hallucination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62087" y="1508760"/>
            <a:ext cx="2194560" cy="38100"/>
          </a:xfrm>
          <a:prstGeom prst="rect">
            <a:avLst/>
          </a:prstGeom>
          <a:gradFill flip="none" rotWithShape="1">
            <a:gsLst>
              <a:gs pos="0">
                <a:srgbClr val="29DBF4"/>
              </a:gs>
              <a:gs pos="100000">
                <a:srgbClr val="6E70F6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36026" y="1828800"/>
            <a:ext cx="3520440" cy="2286000"/>
          </a:xfrm>
          <a:prstGeom prst="roundRect">
            <a:avLst>
              <a:gd name="adj" fmla="val 10000"/>
            </a:avLst>
          </a:prstGeom>
          <a:solidFill>
            <a:srgbClr val="18244D"/>
          </a:solidFill>
          <a:ln w="12700">
            <a:solidFill>
              <a:srgbClr val="29DB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64626" y="2011680"/>
            <a:ext cx="594360" cy="594360"/>
          </a:xfrm>
          <a:prstGeom prst="ellipse">
            <a:avLst/>
          </a:prstGeom>
          <a:solidFill>
            <a:srgbClr val="29D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090E24"/>
                </a:solidFill>
                <a:latin typeface="JetBrains Mono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6146" y="2066544"/>
            <a:ext cx="2423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Montserrat"/>
              </a:rPr>
              <a:t>JSON-Mode Prompt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626" y="2788920"/>
            <a:ext cx="3063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CCD6E3"/>
                </a:solidFill>
                <a:latin typeface="Inter"/>
              </a:rPr>
              <a:t>LLM (OpenAI gpt-4o-mini) is forced into JSON-mode and instructed to emit a non-technical "why" paragraph plus three citation lists — commits, tickets, PRs.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9074" y="1828800"/>
            <a:ext cx="3520440" cy="2286000"/>
          </a:xfrm>
          <a:prstGeom prst="roundRect">
            <a:avLst>
              <a:gd name="adj" fmla="val 10000"/>
            </a:avLst>
          </a:prstGeom>
          <a:solidFill>
            <a:srgbClr val="18244D"/>
          </a:solidFill>
          <a:ln w="12700">
            <a:solidFill>
              <a:srgbClr val="6E70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77674" y="2011680"/>
            <a:ext cx="594360" cy="594360"/>
          </a:xfrm>
          <a:prstGeom prst="ellipse">
            <a:avLst/>
          </a:prstGeom>
          <a:solidFill>
            <a:srgbClr val="6E7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090E24"/>
                </a:solidFill>
                <a:latin typeface="JetBrains Mono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9194" y="2066544"/>
            <a:ext cx="2423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Montserrat"/>
              </a:rPr>
              <a:t>Post-Filter Citations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7674" y="2788920"/>
            <a:ext cx="3063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CCD6E3"/>
                </a:solidFill>
                <a:latin typeface="Inter"/>
              </a:rPr>
              <a:t>Any commit SHA, ticket key or PR number that does NOT appear in the supplied context is silently dropped before the response leaves the Lambda.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2122" y="1828800"/>
            <a:ext cx="3520440" cy="2286000"/>
          </a:xfrm>
          <a:prstGeom prst="roundRect">
            <a:avLst>
              <a:gd name="adj" fmla="val 10000"/>
            </a:avLst>
          </a:prstGeom>
          <a:solidFill>
            <a:srgbClr val="18244D"/>
          </a:solidFill>
          <a:ln w="12700">
            <a:solidFill>
              <a:srgbClr val="B19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390722" y="2011680"/>
            <a:ext cx="594360" cy="594360"/>
          </a:xfrm>
          <a:prstGeom prst="ellipse">
            <a:avLst/>
          </a:prstGeom>
          <a:solidFill>
            <a:srgbClr val="B19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090E24"/>
                </a:solidFill>
                <a:latin typeface="JetBrains Mono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2242" y="2066544"/>
            <a:ext cx="2423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Montserrat"/>
              </a:rPr>
              <a:t>Clickable in the 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0722" y="2788920"/>
            <a:ext cx="3063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CCD6E3"/>
                </a:solidFill>
                <a:latin typeface="Inter"/>
              </a:rPr>
              <a:t>Citations render as clickable references inside the chat panel — the developer can verify each source in one click.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2087" y="4434840"/>
            <a:ext cx="11064240" cy="1993773"/>
          </a:xfrm>
          <a:prstGeom prst="roundRect">
            <a:avLst>
              <a:gd name="adj" fmla="val 6000"/>
            </a:avLst>
          </a:prstGeom>
          <a:solidFill>
            <a:srgbClr val="090E24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0687" y="4572000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FBC029"/>
                </a:solidFill>
                <a:latin typeface="Montserrat"/>
              </a:rPr>
              <a:t>RESPONSE SHAPE (TRUNCATED) — APPENDIX B.5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687" y="4736592"/>
            <a:ext cx="106070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dirty="0">
                <a:solidFill>
                  <a:srgbClr val="29DBF4"/>
                </a:solidFill>
                <a:latin typeface="JetBrains Mono"/>
              </a:rPr>
              <a:t>{</a:t>
            </a:r>
          </a:p>
          <a:p>
            <a:pPr algn="l">
              <a:lnSpc>
                <a:spcPct val="120000"/>
              </a:lnSpc>
            </a:pPr>
            <a:r>
              <a:rPr sz="1000" b="0" i="0" dirty="0">
                <a:solidFill>
                  <a:srgbClr val="29DBF4"/>
                </a:solidFill>
                <a:latin typeface="JetBrains Mono"/>
              </a:rPr>
              <a:t>  "answer": "In plain English: the retry was added because the SSO ...",</a:t>
            </a:r>
          </a:p>
          <a:p>
            <a:pPr algn="l">
              <a:lnSpc>
                <a:spcPct val="120000"/>
              </a:lnSpc>
            </a:pPr>
            <a:r>
              <a:rPr sz="1000" b="0" i="0" dirty="0">
                <a:solidFill>
                  <a:srgbClr val="29DBF4"/>
                </a:solidFill>
                <a:latin typeface="JetBrains Mono"/>
              </a:rPr>
              <a:t>  "citations": {</a:t>
            </a:r>
          </a:p>
          <a:p>
            <a:pPr algn="l">
              <a:lnSpc>
                <a:spcPct val="120000"/>
              </a:lnSpc>
            </a:pPr>
            <a:r>
              <a:rPr sz="1000" b="0" i="0" dirty="0">
                <a:solidFill>
                  <a:srgbClr val="29DBF4"/>
                </a:solidFill>
                <a:latin typeface="JetBrains Mono"/>
              </a:rPr>
              <a:t>    "commits":  [ { "sha": "abc1234567...", "subject": "fix(auth): ..." } ],</a:t>
            </a:r>
          </a:p>
          <a:p>
            <a:pPr algn="l">
              <a:lnSpc>
                <a:spcPct val="120000"/>
              </a:lnSpc>
            </a:pPr>
            <a:r>
              <a:rPr sz="1000" b="0" i="0" dirty="0">
                <a:solidFill>
                  <a:srgbClr val="29DBF4"/>
                </a:solidFill>
                <a:latin typeface="JetBrains Mono"/>
              </a:rPr>
              <a:t>    "tickets":  [ { "key": "PROJ-123", "summary": "Intermittent SSO ..." } ],</a:t>
            </a:r>
          </a:p>
          <a:p>
            <a:pPr algn="l">
              <a:lnSpc>
                <a:spcPct val="120000"/>
              </a:lnSpc>
            </a:pPr>
            <a:r>
              <a:rPr sz="1000" b="0" i="0" dirty="0">
                <a:solidFill>
                  <a:srgbClr val="29DBF4"/>
                </a:solidFill>
                <a:latin typeface="JetBrains Mono"/>
              </a:rPr>
              <a:t>    "prs":      [ { "repo": "acme/platform", "number": 451 } ]</a:t>
            </a:r>
          </a:p>
          <a:p>
            <a:pPr algn="l">
              <a:lnSpc>
                <a:spcPct val="120000"/>
              </a:lnSpc>
            </a:pPr>
            <a:r>
              <a:rPr sz="1000" b="0" i="0" dirty="0">
                <a:solidFill>
                  <a:srgbClr val="29DBF4"/>
                </a:solidFill>
                <a:latin typeface="JetBrains Mono"/>
              </a:rPr>
              <a:t>  },</a:t>
            </a:r>
          </a:p>
          <a:p>
            <a:pPr algn="l">
              <a:lnSpc>
                <a:spcPct val="120000"/>
              </a:lnSpc>
            </a:pPr>
            <a:r>
              <a:rPr sz="1000" b="0" i="0" dirty="0">
                <a:solidFill>
                  <a:srgbClr val="29DBF4"/>
                </a:solidFill>
                <a:latin typeface="JetBrains Mono"/>
              </a:rPr>
              <a:t>  "retrieved": { "</a:t>
            </a:r>
            <a:r>
              <a:rPr sz="1000" b="0" i="0" dirty="0" err="1">
                <a:solidFill>
                  <a:srgbClr val="29DBF4"/>
                </a:solidFill>
                <a:latin typeface="JetBrains Mono"/>
              </a:rPr>
              <a:t>jiraCount</a:t>
            </a:r>
            <a:r>
              <a:rPr sz="1000" b="0" i="0" dirty="0">
                <a:solidFill>
                  <a:srgbClr val="29DBF4"/>
                </a:solidFill>
                <a:latin typeface="JetBrains Mono"/>
              </a:rPr>
              <a:t>": 5, "</a:t>
            </a:r>
            <a:r>
              <a:rPr sz="1000" b="0" i="0" dirty="0" err="1">
                <a:solidFill>
                  <a:srgbClr val="29DBF4"/>
                </a:solidFill>
                <a:latin typeface="JetBrains Mono"/>
              </a:rPr>
              <a:t>githubCount</a:t>
            </a:r>
            <a:r>
              <a:rPr sz="1000" b="0" i="0" dirty="0">
                <a:solidFill>
                  <a:srgbClr val="29DBF4"/>
                </a:solidFill>
                <a:latin typeface="JetBrains Mono"/>
              </a:rPr>
              <a:t>": 4, "</a:t>
            </a:r>
            <a:r>
              <a:rPr sz="1000" b="0" i="0" dirty="0" err="1">
                <a:solidFill>
                  <a:srgbClr val="29DBF4"/>
                </a:solidFill>
                <a:latin typeface="JetBrains Mono"/>
              </a:rPr>
              <a:t>mergedCount</a:t>
            </a:r>
            <a:r>
              <a:rPr sz="1000" b="0" i="0" dirty="0">
                <a:solidFill>
                  <a:srgbClr val="29DBF4"/>
                </a:solidFill>
                <a:latin typeface="JetBrains Mono"/>
              </a:rPr>
              <a:t>": 9 }</a:t>
            </a:r>
          </a:p>
          <a:p>
            <a:pPr algn="l">
              <a:lnSpc>
                <a:spcPct val="120000"/>
              </a:lnSpc>
            </a:pPr>
            <a:r>
              <a:rPr sz="1000" b="0" i="0" dirty="0">
                <a:solidFill>
                  <a:srgbClr val="29DBF4"/>
                </a:solidFill>
                <a:latin typeface="JetBrains Mono"/>
              </a:rPr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90E24"/>
              </a:gs>
              <a:gs pos="100000">
                <a:srgbClr val="121B42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gradFill flip="none" rotWithShape="1">
            <a:gsLst>
              <a:gs pos="0">
                <a:srgbClr val="29DBF4"/>
              </a:gs>
              <a:gs pos="100000">
                <a:srgbClr val="6E70F6"/>
              </a:gs>
            </a:gsLst>
            <a:lin ang="54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293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91440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 dirty="0" err="1">
                <a:solidFill>
                  <a:srgbClr val="96A5BA"/>
                </a:solidFill>
                <a:latin typeface="Inter"/>
              </a:rPr>
              <a:t>IntentEra</a:t>
            </a:r>
            <a:r>
              <a:rPr sz="1000" b="0" i="0" dirty="0">
                <a:solidFill>
                  <a:srgbClr val="96A5BA"/>
                </a:solidFill>
                <a:latin typeface="Inter"/>
              </a:rPr>
              <a:t>  ·  Final </a:t>
            </a:r>
            <a:r>
              <a:rPr lang="en-US" sz="1000" b="0" i="0" dirty="0">
                <a:solidFill>
                  <a:srgbClr val="96A5BA"/>
                </a:solidFill>
                <a:latin typeface="Inter"/>
              </a:rPr>
              <a:t>Term</a:t>
            </a:r>
            <a:r>
              <a:rPr sz="1000" b="0" i="0" dirty="0">
                <a:solidFill>
                  <a:srgbClr val="96A5BA"/>
                </a:solidFill>
                <a:latin typeface="Inter"/>
              </a:rPr>
              <a:t>  ·  Reasoning · Ch 6.6</a:t>
            </a:r>
            <a:r>
              <a:rPr lang="en-US" sz="1000" dirty="0">
                <a:solidFill>
                  <a:srgbClr val="96A5BA"/>
                </a:solidFill>
                <a:latin typeface="Inter"/>
              </a:rPr>
              <a:t> – Aarya Nanndaann Singh M N (2024MT03013)</a:t>
            </a:r>
            <a:endParaRPr sz="1000" b="0" i="0" dirty="0">
              <a:solidFill>
                <a:srgbClr val="96A5BA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0" y="656539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6A5BA"/>
                </a:solidFill>
                <a:latin typeface="JetBrains Mono"/>
              </a:rPr>
              <a:t>19 /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9DBF4"/>
                </a:solidFill>
                <a:latin typeface="Montserrat"/>
              </a:rPr>
              <a:t>MULTI-AGENT ORCHESTRATION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31520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  <a:latin typeface="Montserrat"/>
              </a:rPr>
              <a:t>Specialised agents under one coordinator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08760"/>
            <a:ext cx="2194560" cy="38100"/>
          </a:xfrm>
          <a:prstGeom prst="rect">
            <a:avLst/>
          </a:prstGeom>
          <a:gradFill flip="none" rotWithShape="1">
            <a:gsLst>
              <a:gs pos="0">
                <a:srgbClr val="29DBF4"/>
              </a:gs>
              <a:gs pos="100000">
                <a:srgbClr val="6E70F6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ig_multi_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826" y="1783080"/>
            <a:ext cx="6076188" cy="40507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907024"/>
            <a:ext cx="67665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96A5BA"/>
                </a:solidFill>
                <a:latin typeface="Inter"/>
              </a:rPr>
              <a:t>Coordinator routes context to specialised agents (Fig. 34).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1783080"/>
            <a:ext cx="4297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9DBF4"/>
                </a:solidFill>
                <a:latin typeface="Montserrat"/>
              </a:rPr>
              <a:t>AGENT ROSTER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103120"/>
            <a:ext cx="4297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3DDA9F"/>
                </a:solidFill>
                <a:latin typeface="Montserrat"/>
              </a:rPr>
              <a:t>LIVE IN PRODUCTION</a:t>
            </a:r>
          </a:p>
        </p:txBody>
      </p:sp>
      <p:sp>
        <p:nvSpPr>
          <p:cNvPr id="14" name="Oval 13"/>
          <p:cNvSpPr/>
          <p:nvPr/>
        </p:nvSpPr>
        <p:spPr>
          <a:xfrm>
            <a:off x="7589520" y="2560320"/>
            <a:ext cx="164592" cy="164592"/>
          </a:xfrm>
          <a:prstGeom prst="ellipse">
            <a:avLst/>
          </a:prstGeom>
          <a:solidFill>
            <a:srgbClr val="3DD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63840" y="246888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Montserrat"/>
              </a:rPr>
              <a:t>Coordinator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74320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CCD6E3"/>
                </a:solidFill>
                <a:latin typeface="Inter"/>
              </a:rPr>
              <a:t>Routes context · synthesises responses</a:t>
            </a:r>
          </a:p>
        </p:txBody>
      </p:sp>
      <p:sp>
        <p:nvSpPr>
          <p:cNvPr id="17" name="Oval 16"/>
          <p:cNvSpPr/>
          <p:nvPr/>
        </p:nvSpPr>
        <p:spPr>
          <a:xfrm>
            <a:off x="7589520" y="3108960"/>
            <a:ext cx="164592" cy="164592"/>
          </a:xfrm>
          <a:prstGeom prst="ellipse">
            <a:avLst/>
          </a:prstGeom>
          <a:solidFill>
            <a:srgbClr val="3DD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63840" y="301752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Montserrat"/>
              </a:rPr>
              <a:t>Code-Intent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29184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CCD6E3"/>
                </a:solidFill>
                <a:latin typeface="Inter"/>
              </a:rPr>
              <a:t>Composes the "why" explanation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3657600"/>
            <a:ext cx="4297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FBC029"/>
                </a:solidFill>
                <a:latin typeface="Montserrat"/>
              </a:rPr>
              <a:t>ON DEMAND</a:t>
            </a:r>
          </a:p>
        </p:txBody>
      </p:sp>
      <p:sp>
        <p:nvSpPr>
          <p:cNvPr id="21" name="Oval 20"/>
          <p:cNvSpPr/>
          <p:nvPr/>
        </p:nvSpPr>
        <p:spPr>
          <a:xfrm>
            <a:off x="7589520" y="4114800"/>
            <a:ext cx="164592" cy="164592"/>
          </a:xfrm>
          <a:prstGeom prst="ellipse">
            <a:avLst/>
          </a:prstGeom>
          <a:solidFill>
            <a:srgbClr val="FBC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63840" y="402336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Montserrat"/>
              </a:rPr>
              <a:t>Traceability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429768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CCD6E3"/>
                </a:solidFill>
                <a:latin typeface="Inter"/>
              </a:rPr>
              <a:t>Resolves "which requirement does this implement?"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4663440"/>
            <a:ext cx="4297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B196FB"/>
                </a:solidFill>
                <a:latin typeface="Montserrat"/>
              </a:rPr>
              <a:t>SCAFFOLDED — FUTURE WORK</a:t>
            </a:r>
          </a:p>
        </p:txBody>
      </p:sp>
      <p:sp>
        <p:nvSpPr>
          <p:cNvPr id="25" name="Oval 24"/>
          <p:cNvSpPr/>
          <p:nvPr/>
        </p:nvSpPr>
        <p:spPr>
          <a:xfrm>
            <a:off x="7589520" y="5120640"/>
            <a:ext cx="164592" cy="164592"/>
          </a:xfrm>
          <a:prstGeom prst="ellipse">
            <a:avLst/>
          </a:prstGeom>
          <a:solidFill>
            <a:srgbClr val="B19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63840" y="502920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Montserrat"/>
              </a:rPr>
              <a:t>Reproduction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530352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CCD6E3"/>
                </a:solidFill>
                <a:latin typeface="Inter"/>
              </a:rPr>
              <a:t>Derives repro steps from tickets + commits</a:t>
            </a:r>
          </a:p>
        </p:txBody>
      </p:sp>
      <p:sp>
        <p:nvSpPr>
          <p:cNvPr id="28" name="Oval 27"/>
          <p:cNvSpPr/>
          <p:nvPr/>
        </p:nvSpPr>
        <p:spPr>
          <a:xfrm>
            <a:off x="7589520" y="5669280"/>
            <a:ext cx="164592" cy="164592"/>
          </a:xfrm>
          <a:prstGeom prst="ellipse">
            <a:avLst/>
          </a:prstGeom>
          <a:solidFill>
            <a:srgbClr val="B19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63840" y="557784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Montserrat"/>
              </a:rPr>
              <a:t>Validation / Test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585216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CCD6E3"/>
                </a:solidFill>
                <a:latin typeface="Inter"/>
              </a:rPr>
              <a:t>Suggests how to verify the fix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90E24"/>
              </a:gs>
              <a:gs pos="50000">
                <a:srgbClr val="1B1455"/>
              </a:gs>
              <a:gs pos="100000">
                <a:srgbClr val="352986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-1371600" y="5029200"/>
            <a:ext cx="15087600" cy="548640"/>
          </a:xfrm>
          <a:prstGeom prst="parallelogram">
            <a:avLst>
              <a:gd name="adj" fmla="val 40000"/>
            </a:avLst>
          </a:prstGeom>
          <a:gradFill flip="none" rotWithShape="1">
            <a:gsLst>
              <a:gs pos="0">
                <a:srgbClr val="29DBF4"/>
              </a:gs>
              <a:gs pos="50000">
                <a:srgbClr val="6E70F6"/>
              </a:gs>
              <a:gs pos="100000">
                <a:srgbClr val="B196FB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300">
                <a:solidFill>
                  <a:srgbClr val="29DBF4"/>
                </a:solidFill>
                <a:latin typeface="Montserrat"/>
              </a:rPr>
              <a:t>SECTION 04  ·  CHAPTERS 5 &amp;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800" b="1" i="0">
                <a:solidFill>
                  <a:srgbClr val="F8FAFC"/>
                </a:solidFill>
                <a:latin typeface="Montserrat"/>
              </a:rPr>
              <a:t>IDE Integration &amp; Cloud.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519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1">
                <a:solidFill>
                  <a:srgbClr val="CCD6E3"/>
                </a:solidFill>
                <a:latin typeface="Inter"/>
              </a:rPr>
              <a:t>Where the developer experiences IntentEra — and how AWS makes it cheap.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293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91440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 dirty="0" err="1">
                <a:solidFill>
                  <a:srgbClr val="96A5BA"/>
                </a:solidFill>
                <a:latin typeface="Inter"/>
              </a:rPr>
              <a:t>IntentEra</a:t>
            </a:r>
            <a:r>
              <a:rPr sz="1000" b="0" i="0" dirty="0">
                <a:solidFill>
                  <a:srgbClr val="96A5BA"/>
                </a:solidFill>
                <a:latin typeface="Inter"/>
              </a:rPr>
              <a:t>  ·  Final </a:t>
            </a:r>
            <a:r>
              <a:rPr lang="en-US" sz="1000" b="0" i="0" dirty="0">
                <a:solidFill>
                  <a:srgbClr val="96A5BA"/>
                </a:solidFill>
                <a:latin typeface="Inter"/>
              </a:rPr>
              <a:t>Term</a:t>
            </a:r>
            <a:r>
              <a:rPr sz="1000" b="0" i="0" dirty="0">
                <a:solidFill>
                  <a:srgbClr val="96A5BA"/>
                </a:solidFill>
                <a:latin typeface="Inter"/>
              </a:rPr>
              <a:t>  ·  IDE &amp; Cloud</a:t>
            </a:r>
            <a:r>
              <a:rPr lang="en-US" sz="1000" dirty="0">
                <a:solidFill>
                  <a:srgbClr val="96A5BA"/>
                </a:solidFill>
                <a:latin typeface="Inter"/>
              </a:rPr>
              <a:t> – Aarya Nanndaann Singh M N (2024MT03013)</a:t>
            </a:r>
            <a:endParaRPr sz="1000" b="0" i="0" dirty="0">
              <a:solidFill>
                <a:srgbClr val="96A5BA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6A5BA"/>
                </a:solidFill>
                <a:latin typeface="JetBrains Mono"/>
              </a:rPr>
              <a:t>20 / 32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90E24"/>
              </a:gs>
              <a:gs pos="100000">
                <a:srgbClr val="121B42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gradFill flip="none" rotWithShape="1">
            <a:gsLst>
              <a:gs pos="0">
                <a:srgbClr val="29DBF4"/>
              </a:gs>
              <a:gs pos="100000">
                <a:srgbClr val="6E70F6"/>
              </a:gs>
            </a:gsLst>
            <a:lin ang="54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293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91440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 dirty="0" err="1">
                <a:solidFill>
                  <a:srgbClr val="96A5BA"/>
                </a:solidFill>
                <a:latin typeface="Inter"/>
              </a:rPr>
              <a:t>IntentEra</a:t>
            </a:r>
            <a:r>
              <a:rPr sz="1000" b="0" i="0" dirty="0">
                <a:solidFill>
                  <a:srgbClr val="96A5BA"/>
                </a:solidFill>
                <a:latin typeface="Inter"/>
              </a:rPr>
              <a:t>  ·  Final </a:t>
            </a:r>
            <a:r>
              <a:rPr lang="en-US" sz="1000" b="0" i="0" dirty="0">
                <a:solidFill>
                  <a:srgbClr val="96A5BA"/>
                </a:solidFill>
                <a:latin typeface="Inter"/>
              </a:rPr>
              <a:t>Term</a:t>
            </a:r>
            <a:r>
              <a:rPr sz="1000" b="0" i="0" dirty="0">
                <a:solidFill>
                  <a:srgbClr val="96A5BA"/>
                </a:solidFill>
                <a:latin typeface="Inter"/>
              </a:rPr>
              <a:t>  ·  IDE · Ch 7.1 – 7.2</a:t>
            </a:r>
            <a:r>
              <a:rPr lang="en-US" sz="1000" dirty="0">
                <a:solidFill>
                  <a:srgbClr val="96A5BA"/>
                </a:solidFill>
                <a:latin typeface="Inter"/>
              </a:rPr>
              <a:t> – Aarya Nanndaann Singh M N (2024MT03013)</a:t>
            </a:r>
            <a:endParaRPr sz="1000" b="0" i="0" dirty="0">
              <a:solidFill>
                <a:srgbClr val="96A5BA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0" y="656539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6A5BA"/>
                </a:solidFill>
                <a:latin typeface="JetBrains Mono"/>
              </a:rPr>
              <a:t>21 /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9DBF4"/>
                </a:solidFill>
                <a:latin typeface="Montserrat"/>
              </a:rPr>
              <a:t>VS CODE &amp; CURSOR EXTENSION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31520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  <a:latin typeface="Montserrat"/>
              </a:rPr>
              <a:t>Three pieces — and a deliberate trust boundary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08760"/>
            <a:ext cx="2194560" cy="38100"/>
          </a:xfrm>
          <a:prstGeom prst="rect">
            <a:avLst/>
          </a:prstGeom>
          <a:gradFill flip="none" rotWithShape="1">
            <a:gsLst>
              <a:gs pos="0">
                <a:srgbClr val="29DBF4"/>
              </a:gs>
              <a:gs pos="100000">
                <a:srgbClr val="6E70F6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ig_chat_exten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826" y="1783080"/>
            <a:ext cx="6076188" cy="40507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907024"/>
            <a:ext cx="67665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96A5BA"/>
                </a:solidFill>
                <a:latin typeface="Inter"/>
              </a:rPr>
              <a:t>Three-piece chat extension architecture (Fig. 35).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1828800"/>
            <a:ext cx="4297680" cy="1280160"/>
          </a:xfrm>
          <a:prstGeom prst="roundRect">
            <a:avLst>
              <a:gd name="adj" fmla="val 10000"/>
            </a:avLst>
          </a:prstGeom>
          <a:solidFill>
            <a:srgbClr val="18244D"/>
          </a:solidFill>
          <a:ln w="12700">
            <a:solidFill>
              <a:srgbClr val="29DB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0" y="1993392"/>
            <a:ext cx="39319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150">
                <a:solidFill>
                  <a:srgbClr val="29DBF4"/>
                </a:solidFill>
                <a:latin typeface="Montserrat"/>
              </a:rPr>
              <a:t>01  ·  VSIX Extension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331720"/>
            <a:ext cx="3931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CD6E3"/>
                </a:solidFill>
                <a:latin typeface="Inter"/>
              </a:rPr>
              <a:t>Single artifact installs into both VS Code and Cursor (same Code-OSS extension API). Sidebar webview + right-click commands.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3246120"/>
            <a:ext cx="4297680" cy="1280160"/>
          </a:xfrm>
          <a:prstGeom prst="roundRect">
            <a:avLst>
              <a:gd name="adj" fmla="val 10000"/>
            </a:avLst>
          </a:prstGeom>
          <a:solidFill>
            <a:srgbClr val="18244D"/>
          </a:solidFill>
          <a:ln w="12700">
            <a:solidFill>
              <a:srgbClr val="B19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0" y="3410712"/>
            <a:ext cx="39319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150">
                <a:solidFill>
                  <a:srgbClr val="B196FB"/>
                </a:solidFill>
                <a:latin typeface="Montserrat"/>
              </a:rPr>
              <a:t>02  ·  Local Git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749040"/>
            <a:ext cx="3931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CD6E3"/>
                </a:solidFill>
                <a:latin typeface="Inter"/>
              </a:rPr>
              <a:t>Tiny Express server on 127.0.0.1:8787 — loopback only. Uses git log --no-patch → metadata only, never diffs. Allowlistable project roots.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4663440"/>
            <a:ext cx="4297680" cy="1280160"/>
          </a:xfrm>
          <a:prstGeom prst="roundRect">
            <a:avLst>
              <a:gd name="adj" fmla="val 10000"/>
            </a:avLst>
          </a:prstGeom>
          <a:solidFill>
            <a:srgbClr val="18244D"/>
          </a:solidFill>
          <a:ln w="12700">
            <a:solidFill>
              <a:srgbClr val="36D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0" y="4828032"/>
            <a:ext cx="39319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150">
                <a:solidFill>
                  <a:srgbClr val="36DCC4"/>
                </a:solidFill>
                <a:latin typeface="Montserrat"/>
              </a:rPr>
              <a:t>03  ·  Cloud Chat Lambda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5166360"/>
            <a:ext cx="3931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CD6E3"/>
                </a:solidFill>
                <a:latin typeface="Inter"/>
              </a:rPr>
              <a:t>Called via API Gateway. Runs the multi-query RAG pipeline + JSON-mode answer composition + citation post-filtering.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90E24"/>
              </a:gs>
              <a:gs pos="100000">
                <a:srgbClr val="121B42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gradFill flip="none" rotWithShape="1">
            <a:gsLst>
              <a:gs pos="0">
                <a:srgbClr val="29DBF4"/>
              </a:gs>
              <a:gs pos="100000">
                <a:srgbClr val="6E70F6"/>
              </a:gs>
            </a:gsLst>
            <a:lin ang="54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293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91440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 dirty="0" err="1">
                <a:solidFill>
                  <a:srgbClr val="96A5BA"/>
                </a:solidFill>
                <a:latin typeface="Inter"/>
              </a:rPr>
              <a:t>IntentEra</a:t>
            </a:r>
            <a:r>
              <a:rPr sz="1000" b="0" i="0" dirty="0">
                <a:solidFill>
                  <a:srgbClr val="96A5BA"/>
                </a:solidFill>
                <a:latin typeface="Inter"/>
              </a:rPr>
              <a:t>  ·  Final </a:t>
            </a:r>
            <a:r>
              <a:rPr lang="en-US" sz="1000" b="0" i="0" dirty="0">
                <a:solidFill>
                  <a:srgbClr val="96A5BA"/>
                </a:solidFill>
                <a:latin typeface="Inter"/>
              </a:rPr>
              <a:t>Term</a:t>
            </a:r>
            <a:r>
              <a:rPr sz="1000" b="0" i="0" dirty="0">
                <a:solidFill>
                  <a:srgbClr val="96A5BA"/>
                </a:solidFill>
                <a:latin typeface="Inter"/>
              </a:rPr>
              <a:t>  ·  IDE · Ch 7.3 – 7.4</a:t>
            </a:r>
            <a:r>
              <a:rPr lang="en-US" sz="1000" dirty="0">
                <a:solidFill>
                  <a:srgbClr val="96A5BA"/>
                </a:solidFill>
                <a:latin typeface="Inter"/>
              </a:rPr>
              <a:t> – Aarya Nanndaann Singh M N (2024MT03013)</a:t>
            </a:r>
            <a:endParaRPr sz="1000" b="0" i="0" dirty="0">
              <a:solidFill>
                <a:srgbClr val="96A5BA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0" y="656539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6A5BA"/>
                </a:solidFill>
                <a:latin typeface="JetBrains Mono"/>
              </a:rPr>
              <a:t>22 /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9DBF4"/>
                </a:solidFill>
                <a:latin typeface="Montserrat"/>
              </a:rPr>
              <a:t>END-TO-END CHAT REQUEST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31520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  <a:latin typeface="Montserrat"/>
              </a:rPr>
              <a:t>From right-click to grounded answer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08760"/>
            <a:ext cx="2194560" cy="38100"/>
          </a:xfrm>
          <a:prstGeom prst="rect">
            <a:avLst/>
          </a:prstGeom>
          <a:gradFill flip="none" rotWithShape="1">
            <a:gsLst>
              <a:gs pos="0">
                <a:srgbClr val="29DBF4"/>
              </a:gs>
              <a:gs pos="100000">
                <a:srgbClr val="6E70F6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ig_data_flow_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946" y="1783080"/>
            <a:ext cx="6076188" cy="40507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907024"/>
            <a:ext cx="6400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96A5BA"/>
                </a:solidFill>
                <a:latin typeface="Inter"/>
              </a:rPr>
              <a:t>UML-style sequence (Fig. 36).</a:t>
            </a:r>
          </a:p>
        </p:txBody>
      </p:sp>
      <p:pic>
        <p:nvPicPr>
          <p:cNvPr id="12" name="Picture 11" descr="chat_ui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2469295"/>
            <a:ext cx="4572000" cy="267836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78040" y="5907024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96A5BA"/>
                </a:solidFill>
                <a:latin typeface="Inter"/>
              </a:rPr>
              <a:t>Cursor chat panel: "Why was the email filter introduced?"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90E24"/>
              </a:gs>
              <a:gs pos="100000">
                <a:srgbClr val="121B42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gradFill flip="none" rotWithShape="1">
            <a:gsLst>
              <a:gs pos="0">
                <a:srgbClr val="29DBF4"/>
              </a:gs>
              <a:gs pos="100000">
                <a:srgbClr val="6E70F6"/>
              </a:gs>
            </a:gsLst>
            <a:lin ang="54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293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91440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 dirty="0" err="1">
                <a:solidFill>
                  <a:srgbClr val="96A5BA"/>
                </a:solidFill>
                <a:latin typeface="Inter"/>
              </a:rPr>
              <a:t>IntentEra</a:t>
            </a:r>
            <a:r>
              <a:rPr sz="1000" b="0" i="0" dirty="0">
                <a:solidFill>
                  <a:srgbClr val="96A5BA"/>
                </a:solidFill>
                <a:latin typeface="Inter"/>
              </a:rPr>
              <a:t>  ·  Final </a:t>
            </a:r>
            <a:r>
              <a:rPr lang="en-US" sz="1000" b="0" i="0" dirty="0">
                <a:solidFill>
                  <a:srgbClr val="96A5BA"/>
                </a:solidFill>
                <a:latin typeface="Inter"/>
              </a:rPr>
              <a:t>Term</a:t>
            </a:r>
            <a:r>
              <a:rPr sz="1000" b="0" i="0" dirty="0">
                <a:solidFill>
                  <a:srgbClr val="96A5BA"/>
                </a:solidFill>
                <a:latin typeface="Inter"/>
              </a:rPr>
              <a:t>  ·  Cloud · Ch 5</a:t>
            </a:r>
            <a:r>
              <a:rPr lang="en-US" sz="1000" dirty="0">
                <a:solidFill>
                  <a:srgbClr val="96A5BA"/>
                </a:solidFill>
                <a:latin typeface="Inter"/>
              </a:rPr>
              <a:t> – Aarya Nanndaann Singh M N (2024MT03013)</a:t>
            </a:r>
            <a:endParaRPr sz="1000" b="0" i="0" dirty="0">
              <a:solidFill>
                <a:srgbClr val="96A5BA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0" y="656539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6A5BA"/>
                </a:solidFill>
                <a:latin typeface="JetBrains Mono"/>
              </a:rPr>
              <a:t>23 /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9DBF4"/>
                </a:solidFill>
                <a:latin typeface="Montserrat"/>
              </a:rPr>
              <a:t>CLOUD-HOSTED, PAY-PER-INVOCATION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31520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  <a:latin typeface="Montserrat"/>
              </a:rPr>
              <a:t>Production deployment on AWS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08760"/>
            <a:ext cx="2194560" cy="38100"/>
          </a:xfrm>
          <a:prstGeom prst="rect">
            <a:avLst/>
          </a:prstGeom>
          <a:gradFill flip="none" rotWithShape="1">
            <a:gsLst>
              <a:gs pos="0">
                <a:srgbClr val="29DBF4"/>
              </a:gs>
              <a:gs pos="100000">
                <a:srgbClr val="6E70F6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ig_aws_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946" y="1783080"/>
            <a:ext cx="6076188" cy="40507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907024"/>
            <a:ext cx="6400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96A5BA"/>
                </a:solidFill>
                <a:latin typeface="Inter"/>
              </a:rPr>
              <a:t>EventBridge → Ingest Lambda; API Gateway → Retrieve &amp; Chat (Fig. 2).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8040" y="1783080"/>
            <a:ext cx="2240280" cy="2103120"/>
          </a:xfrm>
          <a:prstGeom prst="roundRect">
            <a:avLst>
              <a:gd name="adj" fmla="val 6000"/>
            </a:avLst>
          </a:prstGeom>
          <a:solidFill>
            <a:srgbClr val="18244D"/>
          </a:solidFill>
          <a:ln w="9525">
            <a:solidFill>
              <a:srgbClr val="2937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nfra_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2" y="2249995"/>
            <a:ext cx="2093976" cy="78524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51192" y="3483864"/>
            <a:ext cx="209397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1">
                <a:solidFill>
                  <a:srgbClr val="96A5BA"/>
                </a:solidFill>
                <a:latin typeface="Inter"/>
              </a:rPr>
              <a:t>Three Lambdas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0" y="1783080"/>
            <a:ext cx="2240280" cy="2103120"/>
          </a:xfrm>
          <a:prstGeom prst="roundRect">
            <a:avLst>
              <a:gd name="adj" fmla="val 6000"/>
            </a:avLst>
          </a:prstGeom>
          <a:solidFill>
            <a:srgbClr val="18244D"/>
          </a:solidFill>
          <a:ln w="9525">
            <a:solidFill>
              <a:srgbClr val="2937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nfra_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2" y="2115660"/>
            <a:ext cx="2093976" cy="105391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582912" y="3483864"/>
            <a:ext cx="209397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1">
                <a:solidFill>
                  <a:srgbClr val="96A5BA"/>
                </a:solidFill>
                <a:latin typeface="Inter"/>
              </a:rPr>
              <a:t>EventBridge schedules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3977640"/>
            <a:ext cx="2240280" cy="2103120"/>
          </a:xfrm>
          <a:prstGeom prst="roundRect">
            <a:avLst>
              <a:gd name="adj" fmla="val 6000"/>
            </a:avLst>
          </a:prstGeom>
          <a:solidFill>
            <a:srgbClr val="18244D"/>
          </a:solidFill>
          <a:ln w="9525">
            <a:solidFill>
              <a:srgbClr val="2937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nfra_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1192" y="4175349"/>
            <a:ext cx="2093976" cy="132365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251192" y="5678424"/>
            <a:ext cx="209397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1">
                <a:solidFill>
                  <a:srgbClr val="96A5BA"/>
                </a:solidFill>
                <a:latin typeface="Inter"/>
              </a:rPr>
              <a:t>Secrets Manager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09760" y="3977640"/>
            <a:ext cx="2240280" cy="2103120"/>
          </a:xfrm>
          <a:prstGeom prst="roundRect">
            <a:avLst>
              <a:gd name="adj" fmla="val 6000"/>
            </a:avLst>
          </a:prstGeom>
          <a:solidFill>
            <a:srgbClr val="18244D"/>
          </a:solidFill>
          <a:ln w="9525">
            <a:solidFill>
              <a:srgbClr val="2937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82912" y="5678424"/>
            <a:ext cx="209397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1">
                <a:solidFill>
                  <a:srgbClr val="96A5BA"/>
                </a:solidFill>
                <a:latin typeface="Inter"/>
              </a:rPr>
              <a:t>CloudWatch log groups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0AB9C78-82BD-1659-ECBA-327DF198BC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8972" y="4180190"/>
            <a:ext cx="2001856" cy="131535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90E24"/>
              </a:gs>
              <a:gs pos="50000">
                <a:srgbClr val="1B1455"/>
              </a:gs>
              <a:gs pos="100000">
                <a:srgbClr val="352986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-1371600" y="5029200"/>
            <a:ext cx="15087600" cy="548640"/>
          </a:xfrm>
          <a:prstGeom prst="parallelogram">
            <a:avLst>
              <a:gd name="adj" fmla="val 40000"/>
            </a:avLst>
          </a:prstGeom>
          <a:gradFill flip="none" rotWithShape="1">
            <a:gsLst>
              <a:gs pos="0">
                <a:srgbClr val="29DBF4"/>
              </a:gs>
              <a:gs pos="50000">
                <a:srgbClr val="6E70F6"/>
              </a:gs>
              <a:gs pos="100000">
                <a:srgbClr val="B196FB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300">
                <a:solidFill>
                  <a:srgbClr val="29DBF4"/>
                </a:solidFill>
                <a:latin typeface="Montserrat"/>
              </a:rPr>
              <a:t>SECTION 05  ·  CHAPTER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800" b="1" i="0">
                <a:solidFill>
                  <a:srgbClr val="F8FAFC"/>
                </a:solidFill>
                <a:latin typeface="Montserrat"/>
              </a:rPr>
              <a:t>Evaluation &amp; Metrics.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519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1">
                <a:solidFill>
                  <a:srgbClr val="CCD6E3"/>
                </a:solidFill>
                <a:latin typeface="Inter"/>
              </a:rPr>
              <a:t>Functional, retrieval, latency, cost — and what three engineers actually felt.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293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91440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 dirty="0" err="1">
                <a:solidFill>
                  <a:srgbClr val="96A5BA"/>
                </a:solidFill>
                <a:latin typeface="Inter"/>
              </a:rPr>
              <a:t>IntentEra</a:t>
            </a:r>
            <a:r>
              <a:rPr sz="1000" b="0" i="0" dirty="0">
                <a:solidFill>
                  <a:srgbClr val="96A5BA"/>
                </a:solidFill>
                <a:latin typeface="Inter"/>
              </a:rPr>
              <a:t>  ·  Final </a:t>
            </a:r>
            <a:r>
              <a:rPr lang="en-US" sz="1000" b="0" i="0" dirty="0">
                <a:solidFill>
                  <a:srgbClr val="96A5BA"/>
                </a:solidFill>
                <a:latin typeface="Inter"/>
              </a:rPr>
              <a:t>Term</a:t>
            </a:r>
            <a:r>
              <a:rPr sz="1000" b="0" i="0" dirty="0">
                <a:solidFill>
                  <a:srgbClr val="96A5BA"/>
                </a:solidFill>
                <a:latin typeface="Inter"/>
              </a:rPr>
              <a:t>  ·  Evaluation</a:t>
            </a:r>
            <a:r>
              <a:rPr lang="en-US" sz="1000" dirty="0">
                <a:solidFill>
                  <a:srgbClr val="96A5BA"/>
                </a:solidFill>
                <a:latin typeface="Inter"/>
              </a:rPr>
              <a:t> – Aarya Nanndaann Singh M N (2024MT03013)</a:t>
            </a:r>
            <a:endParaRPr sz="1000" b="0" i="0" dirty="0">
              <a:solidFill>
                <a:srgbClr val="96A5BA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6A5BA"/>
                </a:solidFill>
                <a:latin typeface="JetBrains Mono"/>
              </a:rPr>
              <a:t>24 / 32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90E24"/>
              </a:gs>
              <a:gs pos="100000">
                <a:srgbClr val="121B42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gradFill flip="none" rotWithShape="1">
            <a:gsLst>
              <a:gs pos="0">
                <a:srgbClr val="29DBF4"/>
              </a:gs>
              <a:gs pos="100000">
                <a:srgbClr val="6E70F6"/>
              </a:gs>
            </a:gsLst>
            <a:lin ang="54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293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91440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 dirty="0" err="1">
                <a:solidFill>
                  <a:srgbClr val="96A5BA"/>
                </a:solidFill>
                <a:latin typeface="Inter"/>
              </a:rPr>
              <a:t>IntentEra</a:t>
            </a:r>
            <a:r>
              <a:rPr sz="1000" b="0" i="0" dirty="0">
                <a:solidFill>
                  <a:srgbClr val="96A5BA"/>
                </a:solidFill>
                <a:latin typeface="Inter"/>
              </a:rPr>
              <a:t>  ·  Final </a:t>
            </a:r>
            <a:r>
              <a:rPr lang="en-US" sz="1000" b="0" i="0" dirty="0">
                <a:solidFill>
                  <a:srgbClr val="96A5BA"/>
                </a:solidFill>
                <a:latin typeface="Inter"/>
              </a:rPr>
              <a:t>Term</a:t>
            </a:r>
            <a:r>
              <a:rPr sz="1000" b="0" i="0" dirty="0">
                <a:solidFill>
                  <a:srgbClr val="96A5BA"/>
                </a:solidFill>
                <a:latin typeface="Inter"/>
              </a:rPr>
              <a:t>  ·  Evaluation · Ch 8.1</a:t>
            </a:r>
            <a:r>
              <a:rPr lang="en-US" sz="1000" dirty="0">
                <a:solidFill>
                  <a:srgbClr val="96A5BA"/>
                </a:solidFill>
                <a:latin typeface="Inter"/>
              </a:rPr>
              <a:t> – Aarya Nanndaann Singh M N (2024MT03013)</a:t>
            </a:r>
            <a:endParaRPr sz="1000" b="0" i="0" dirty="0">
              <a:solidFill>
                <a:srgbClr val="96A5BA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0" y="656539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6A5BA"/>
                </a:solidFill>
                <a:latin typeface="JetBrains Mono"/>
              </a:rPr>
              <a:t>25 /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9DBF4"/>
                </a:solidFill>
                <a:latin typeface="Montserrat"/>
              </a:rPr>
              <a:t>END-TO-END VERIFICATION ON REAL PRODUCTION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31520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  <a:latin typeface="Montserrat"/>
              </a:rPr>
              <a:t>10 of 10 functional checks pass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08760"/>
            <a:ext cx="2194560" cy="38100"/>
          </a:xfrm>
          <a:prstGeom prst="rect">
            <a:avLst/>
          </a:prstGeom>
          <a:gradFill flip="none" rotWithShape="1">
            <a:gsLst>
              <a:gs pos="0">
                <a:srgbClr val="29DBF4"/>
              </a:gs>
              <a:gs pos="100000">
                <a:srgbClr val="6E70F6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18007" y="1783080"/>
            <a:ext cx="5486400" cy="777240"/>
          </a:xfrm>
          <a:prstGeom prst="roundRect">
            <a:avLst>
              <a:gd name="adj" fmla="val 8000"/>
            </a:avLst>
          </a:prstGeom>
          <a:solidFill>
            <a:srgbClr val="18244D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82599" y="1965960"/>
            <a:ext cx="411480" cy="411480"/>
          </a:xfrm>
          <a:prstGeom prst="ellipse">
            <a:avLst/>
          </a:prstGeom>
          <a:solidFill>
            <a:srgbClr val="3DD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90E24"/>
                </a:solidFill>
                <a:latin typeface="Montserrat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1239" y="1874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3DDA9F"/>
                </a:solidFill>
                <a:latin typeface="JetBrains Mono"/>
              </a:rPr>
              <a:t>#01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1239" y="2112264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8FAFC"/>
                </a:solidFill>
                <a:latin typeface="Inter"/>
              </a:rPr>
              <a:t>Lambda cold-start under 5 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27167" y="2029968"/>
            <a:ext cx="594360" cy="292608"/>
          </a:xfrm>
          <a:prstGeom prst="roundRect">
            <a:avLst>
              <a:gd name="adj" fmla="val 50000"/>
            </a:avLst>
          </a:prstGeom>
          <a:solidFill>
            <a:srgbClr val="3DD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090E24"/>
                </a:solidFill>
                <a:latin typeface="Montserrat"/>
              </a:rPr>
              <a:t>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8007" y="2724912"/>
            <a:ext cx="5486400" cy="777240"/>
          </a:xfrm>
          <a:prstGeom prst="roundRect">
            <a:avLst>
              <a:gd name="adj" fmla="val 8000"/>
            </a:avLst>
          </a:prstGeom>
          <a:solidFill>
            <a:srgbClr val="18244D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82599" y="2907792"/>
            <a:ext cx="411480" cy="411480"/>
          </a:xfrm>
          <a:prstGeom prst="ellipse">
            <a:avLst/>
          </a:prstGeom>
          <a:solidFill>
            <a:srgbClr val="3DD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90E24"/>
                </a:solidFill>
                <a:latin typeface="Montserrat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1239" y="28163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3DDA9F"/>
                </a:solidFill>
                <a:latin typeface="JetBrains Mono"/>
              </a:rPr>
              <a:t>#02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1239" y="3054096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8FAFC"/>
                </a:solidFill>
                <a:latin typeface="Inter"/>
              </a:rPr>
              <a:t>Full Jira import populates rag_chunks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27167" y="2971800"/>
            <a:ext cx="594360" cy="292608"/>
          </a:xfrm>
          <a:prstGeom prst="roundRect">
            <a:avLst>
              <a:gd name="adj" fmla="val 50000"/>
            </a:avLst>
          </a:prstGeom>
          <a:solidFill>
            <a:srgbClr val="3DD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090E24"/>
                </a:solidFill>
                <a:latin typeface="Montserrat"/>
              </a:rPr>
              <a:t>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8007" y="3666744"/>
            <a:ext cx="5486400" cy="777240"/>
          </a:xfrm>
          <a:prstGeom prst="roundRect">
            <a:avLst>
              <a:gd name="adj" fmla="val 8000"/>
            </a:avLst>
          </a:prstGeom>
          <a:solidFill>
            <a:srgbClr val="18244D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82599" y="3849624"/>
            <a:ext cx="411480" cy="411480"/>
          </a:xfrm>
          <a:prstGeom prst="ellipse">
            <a:avLst/>
          </a:prstGeom>
          <a:solidFill>
            <a:srgbClr val="3DD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90E24"/>
                </a:solidFill>
                <a:latin typeface="Montserrat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1239" y="375818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3DDA9F"/>
                </a:solidFill>
                <a:latin typeface="JetBrains Mono"/>
              </a:rPr>
              <a:t>#03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1239" y="3995928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8FAFC"/>
                </a:solidFill>
                <a:latin typeface="Inter"/>
              </a:rPr>
              <a:t>Full GitHub import populates rag_chunks_github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27167" y="3913632"/>
            <a:ext cx="594360" cy="292608"/>
          </a:xfrm>
          <a:prstGeom prst="roundRect">
            <a:avLst>
              <a:gd name="adj" fmla="val 50000"/>
            </a:avLst>
          </a:prstGeom>
          <a:solidFill>
            <a:srgbClr val="3DD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090E24"/>
                </a:solidFill>
                <a:latin typeface="Montserrat"/>
              </a:rPr>
              <a:t>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8007" y="4608576"/>
            <a:ext cx="5486400" cy="777240"/>
          </a:xfrm>
          <a:prstGeom prst="roundRect">
            <a:avLst>
              <a:gd name="adj" fmla="val 8000"/>
            </a:avLst>
          </a:prstGeom>
          <a:solidFill>
            <a:srgbClr val="18244D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82599" y="4791456"/>
            <a:ext cx="411480" cy="411480"/>
          </a:xfrm>
          <a:prstGeom prst="ellipse">
            <a:avLst/>
          </a:prstGeom>
          <a:solidFill>
            <a:srgbClr val="3DD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90E24"/>
                </a:solidFill>
                <a:latin typeface="Montserrat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1239" y="470001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3DDA9F"/>
                </a:solidFill>
                <a:latin typeface="JetBrains Mono"/>
              </a:rPr>
              <a:t>#04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1239" y="493776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8FAFC"/>
                </a:solidFill>
                <a:latin typeface="Inter"/>
              </a:rPr>
              <a:t>Incremental sync respects 60-min schedule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227167" y="4855464"/>
            <a:ext cx="594360" cy="292608"/>
          </a:xfrm>
          <a:prstGeom prst="roundRect">
            <a:avLst>
              <a:gd name="adj" fmla="val 50000"/>
            </a:avLst>
          </a:prstGeom>
          <a:solidFill>
            <a:srgbClr val="3DD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090E24"/>
                </a:solidFill>
                <a:latin typeface="Montserrat"/>
              </a:rPr>
              <a:t>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8007" y="5550408"/>
            <a:ext cx="5486400" cy="777240"/>
          </a:xfrm>
          <a:prstGeom prst="roundRect">
            <a:avLst>
              <a:gd name="adj" fmla="val 8000"/>
            </a:avLst>
          </a:prstGeom>
          <a:solidFill>
            <a:srgbClr val="18244D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82599" y="5733288"/>
            <a:ext cx="411480" cy="411480"/>
          </a:xfrm>
          <a:prstGeom prst="ellipse">
            <a:avLst/>
          </a:prstGeom>
          <a:solidFill>
            <a:srgbClr val="3DD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90E24"/>
                </a:solidFill>
                <a:latin typeface="Montserrat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1239" y="564184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3DDA9F"/>
                </a:solidFill>
                <a:latin typeface="JetBrains Mono"/>
              </a:rPr>
              <a:t>#05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1239" y="5879592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8FAFC"/>
                </a:solidFill>
                <a:latin typeface="Inter"/>
              </a:rPr>
              <a:t>Re-running incremental is idempotent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27167" y="5797296"/>
            <a:ext cx="594360" cy="292608"/>
          </a:xfrm>
          <a:prstGeom prst="roundRect">
            <a:avLst>
              <a:gd name="adj" fmla="val 50000"/>
            </a:avLst>
          </a:prstGeom>
          <a:solidFill>
            <a:srgbClr val="3DD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090E24"/>
                </a:solidFill>
                <a:latin typeface="Montserrat"/>
              </a:rPr>
              <a:t>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87287" y="1783080"/>
            <a:ext cx="5486400" cy="777240"/>
          </a:xfrm>
          <a:prstGeom prst="roundRect">
            <a:avLst>
              <a:gd name="adj" fmla="val 8000"/>
            </a:avLst>
          </a:prstGeom>
          <a:solidFill>
            <a:srgbClr val="18244D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6351879" y="1965960"/>
            <a:ext cx="411480" cy="411480"/>
          </a:xfrm>
          <a:prstGeom prst="ellipse">
            <a:avLst/>
          </a:prstGeom>
          <a:solidFill>
            <a:srgbClr val="3DD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90E24"/>
                </a:solidFill>
                <a:latin typeface="Montserrat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0519" y="1874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3DDA9F"/>
                </a:solidFill>
                <a:latin typeface="JetBrains Mono"/>
              </a:rPr>
              <a:t>#06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0519" y="2112264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8FAFC"/>
                </a:solidFill>
                <a:latin typeface="Inter"/>
              </a:rPr>
              <a:t>POST /retrieve returns ranked hits + metadata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896447" y="2029968"/>
            <a:ext cx="594360" cy="292608"/>
          </a:xfrm>
          <a:prstGeom prst="roundRect">
            <a:avLst>
              <a:gd name="adj" fmla="val 50000"/>
            </a:avLst>
          </a:prstGeom>
          <a:solidFill>
            <a:srgbClr val="3DD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090E24"/>
                </a:solidFill>
                <a:latin typeface="Montserrat"/>
              </a:rPr>
              <a:t>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87287" y="2724912"/>
            <a:ext cx="5486400" cy="777240"/>
          </a:xfrm>
          <a:prstGeom prst="roundRect">
            <a:avLst>
              <a:gd name="adj" fmla="val 8000"/>
            </a:avLst>
          </a:prstGeom>
          <a:solidFill>
            <a:srgbClr val="18244D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6351879" y="2907792"/>
            <a:ext cx="411480" cy="411480"/>
          </a:xfrm>
          <a:prstGeom prst="ellipse">
            <a:avLst/>
          </a:prstGeom>
          <a:solidFill>
            <a:srgbClr val="3DD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90E24"/>
                </a:solidFill>
                <a:latin typeface="Montserrat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00519" y="28163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3DDA9F"/>
                </a:solidFill>
                <a:latin typeface="JetBrains Mono"/>
              </a:rPr>
              <a:t>#07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0519" y="3054096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8FAFC"/>
                </a:solidFill>
                <a:latin typeface="Inter"/>
              </a:rPr>
              <a:t>POST /chat returns grounded answer with citations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896447" y="2971800"/>
            <a:ext cx="594360" cy="292608"/>
          </a:xfrm>
          <a:prstGeom prst="roundRect">
            <a:avLst>
              <a:gd name="adj" fmla="val 50000"/>
            </a:avLst>
          </a:prstGeom>
          <a:solidFill>
            <a:srgbClr val="3DD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090E24"/>
                </a:solidFill>
                <a:latin typeface="Montserrat"/>
              </a:rPr>
              <a:t>P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87287" y="3666744"/>
            <a:ext cx="5486400" cy="777240"/>
          </a:xfrm>
          <a:prstGeom prst="roundRect">
            <a:avLst>
              <a:gd name="adj" fmla="val 8000"/>
            </a:avLst>
          </a:prstGeom>
          <a:solidFill>
            <a:srgbClr val="18244D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6351879" y="3849624"/>
            <a:ext cx="411480" cy="411480"/>
          </a:xfrm>
          <a:prstGeom prst="ellipse">
            <a:avLst/>
          </a:prstGeom>
          <a:solidFill>
            <a:srgbClr val="3DD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90E24"/>
                </a:solidFill>
                <a:latin typeface="Montserrat"/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00519" y="375818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3DDA9F"/>
                </a:solidFill>
                <a:latin typeface="JetBrains Mono"/>
              </a:rPr>
              <a:t>#08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0519" y="3995928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8FAFC"/>
                </a:solidFill>
                <a:latin typeface="Inter"/>
              </a:rPr>
              <a:t>Citations not in context are dropped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896447" y="3913632"/>
            <a:ext cx="594360" cy="292608"/>
          </a:xfrm>
          <a:prstGeom prst="roundRect">
            <a:avLst>
              <a:gd name="adj" fmla="val 50000"/>
            </a:avLst>
          </a:prstGeom>
          <a:solidFill>
            <a:srgbClr val="3DD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090E24"/>
                </a:solidFill>
                <a:latin typeface="Montserrat"/>
              </a:rPr>
              <a:t>P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87287" y="4608576"/>
            <a:ext cx="5486400" cy="777240"/>
          </a:xfrm>
          <a:prstGeom prst="roundRect">
            <a:avLst>
              <a:gd name="adj" fmla="val 8000"/>
            </a:avLst>
          </a:prstGeom>
          <a:solidFill>
            <a:srgbClr val="18244D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6351879" y="4791456"/>
            <a:ext cx="411480" cy="411480"/>
          </a:xfrm>
          <a:prstGeom prst="ellipse">
            <a:avLst/>
          </a:prstGeom>
          <a:solidFill>
            <a:srgbClr val="3DD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90E24"/>
                </a:solidFill>
                <a:latin typeface="Montserrat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0519" y="470001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3DDA9F"/>
                </a:solidFill>
                <a:latin typeface="JetBrains Mono"/>
              </a:rPr>
              <a:t>#09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00519" y="493776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8FAFC"/>
                </a:solidFill>
                <a:latin typeface="Inter"/>
              </a:rPr>
              <a:t>Local git agent rejects non-loopback callers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896447" y="4855464"/>
            <a:ext cx="594360" cy="292608"/>
          </a:xfrm>
          <a:prstGeom prst="roundRect">
            <a:avLst>
              <a:gd name="adj" fmla="val 50000"/>
            </a:avLst>
          </a:prstGeom>
          <a:solidFill>
            <a:srgbClr val="3DD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090E24"/>
                </a:solidFill>
                <a:latin typeface="Montserrat"/>
              </a:rPr>
              <a:t>P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187287" y="5550408"/>
            <a:ext cx="5486400" cy="777240"/>
          </a:xfrm>
          <a:prstGeom prst="roundRect">
            <a:avLst>
              <a:gd name="adj" fmla="val 8000"/>
            </a:avLst>
          </a:prstGeom>
          <a:solidFill>
            <a:srgbClr val="18244D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6351879" y="5733288"/>
            <a:ext cx="411480" cy="411480"/>
          </a:xfrm>
          <a:prstGeom prst="ellipse">
            <a:avLst/>
          </a:prstGeom>
          <a:solidFill>
            <a:srgbClr val="FBC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90E24"/>
                </a:solidFill>
                <a:latin typeface="Montserrat"/>
              </a:rPr>
              <a:t>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00519" y="564184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FBC029"/>
                </a:solidFill>
                <a:latin typeface="JetBrains Mono"/>
              </a:rPr>
              <a:t>#10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00519" y="5879592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8FAFC"/>
                </a:solidFill>
                <a:latin typeface="Inter"/>
              </a:rPr>
              <a:t>Extension banner reflects agent + Lambda health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896447" y="5797296"/>
            <a:ext cx="594360" cy="292608"/>
          </a:xfrm>
          <a:prstGeom prst="roundRect">
            <a:avLst>
              <a:gd name="adj" fmla="val 50000"/>
            </a:avLst>
          </a:prstGeom>
          <a:solidFill>
            <a:srgbClr val="FBC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090E24"/>
                </a:solidFill>
                <a:latin typeface="Montserrat"/>
              </a:rPr>
              <a:t>P*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76431" y="6153531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 dirty="0">
                <a:solidFill>
                  <a:srgbClr val="96A5BA"/>
                </a:solidFill>
                <a:latin typeface="Inter"/>
              </a:rPr>
              <a:t>P* — minor observation: extension banner wording was reworded twice during testing for non-author readability.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90E24"/>
              </a:gs>
              <a:gs pos="100000">
                <a:srgbClr val="121B42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gradFill flip="none" rotWithShape="1">
            <a:gsLst>
              <a:gs pos="0">
                <a:srgbClr val="29DBF4"/>
              </a:gs>
              <a:gs pos="100000">
                <a:srgbClr val="6E70F6"/>
              </a:gs>
            </a:gsLst>
            <a:lin ang="54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293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91440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 dirty="0" err="1">
                <a:solidFill>
                  <a:srgbClr val="96A5BA"/>
                </a:solidFill>
                <a:latin typeface="Inter"/>
              </a:rPr>
              <a:t>IntentEra</a:t>
            </a:r>
            <a:r>
              <a:rPr sz="1000" b="0" i="0" dirty="0">
                <a:solidFill>
                  <a:srgbClr val="96A5BA"/>
                </a:solidFill>
                <a:latin typeface="Inter"/>
              </a:rPr>
              <a:t>  ·  Final </a:t>
            </a:r>
            <a:r>
              <a:rPr lang="en-US" sz="1000" b="0" i="0" dirty="0">
                <a:solidFill>
                  <a:srgbClr val="96A5BA"/>
                </a:solidFill>
                <a:latin typeface="Inter"/>
              </a:rPr>
              <a:t>Term</a:t>
            </a:r>
            <a:r>
              <a:rPr sz="1000" b="0" i="0" dirty="0">
                <a:solidFill>
                  <a:srgbClr val="96A5BA"/>
                </a:solidFill>
                <a:latin typeface="Inter"/>
              </a:rPr>
              <a:t>  ·  Evaluation · Ch 8.2 </a:t>
            </a:r>
            <a:r>
              <a:rPr lang="en-IN" sz="1000" dirty="0">
                <a:solidFill>
                  <a:srgbClr val="96A5BA"/>
                </a:solidFill>
                <a:latin typeface="Inter"/>
              </a:rPr>
              <a:t>-</a:t>
            </a:r>
            <a:r>
              <a:rPr sz="1000" b="0" i="0" dirty="0">
                <a:solidFill>
                  <a:srgbClr val="96A5BA"/>
                </a:solidFill>
                <a:latin typeface="Inter"/>
              </a:rPr>
              <a:t> 8.4</a:t>
            </a:r>
            <a:r>
              <a:rPr lang="en-US" sz="1000" dirty="0">
                <a:solidFill>
                  <a:srgbClr val="96A5BA"/>
                </a:solidFill>
                <a:latin typeface="Inter"/>
              </a:rPr>
              <a:t> – Aarya Nanndaann Singh M N (2024MT03013)</a:t>
            </a:r>
            <a:endParaRPr sz="1000" b="0" i="0" dirty="0">
              <a:solidFill>
                <a:srgbClr val="96A5BA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0" y="656539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6A5BA"/>
                </a:solidFill>
                <a:latin typeface="JetBrains Mono"/>
              </a:rPr>
              <a:t>26 /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9DBF4"/>
                </a:solidFill>
                <a:latin typeface="Montserrat"/>
              </a:rPr>
              <a:t>QUALITATIVE STUDY ON REAL SLACK-SOURCED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31520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  <a:latin typeface="Montserrat"/>
              </a:rPr>
              <a:t>Retrieval quality and cognitive-load impact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08760"/>
            <a:ext cx="2194560" cy="38100"/>
          </a:xfrm>
          <a:prstGeom prst="rect">
            <a:avLst/>
          </a:prstGeom>
          <a:gradFill flip="none" rotWithShape="1">
            <a:gsLst>
              <a:gs pos="0">
                <a:srgbClr val="29DBF4"/>
              </a:gs>
              <a:gs pos="100000">
                <a:srgbClr val="6E70F6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68299" y="1783080"/>
            <a:ext cx="3520440" cy="1691640"/>
          </a:xfrm>
          <a:prstGeom prst="roundRect">
            <a:avLst>
              <a:gd name="adj" fmla="val 12000"/>
            </a:avLst>
          </a:prstGeom>
          <a:solidFill>
            <a:srgbClr val="18244D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8299" y="1783080"/>
            <a:ext cx="3520440" cy="45720"/>
          </a:xfrm>
          <a:prstGeom prst="rect">
            <a:avLst/>
          </a:prstGeom>
          <a:gradFill flip="none" rotWithShape="1">
            <a:gsLst>
              <a:gs pos="0">
                <a:srgbClr val="3DDA9F"/>
              </a:gs>
              <a:gs pos="100000">
                <a:srgbClr val="6E70F6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9467" y="1947672"/>
            <a:ext cx="311810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8FAFC"/>
                </a:solidFill>
                <a:latin typeface="Montserrat"/>
              </a:rPr>
              <a:t>15 /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0983" y="1981047"/>
            <a:ext cx="1470032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200" dirty="0">
                <a:solidFill>
                  <a:srgbClr val="3DDA9F"/>
                </a:solidFill>
                <a:latin typeface="Montserrat"/>
              </a:rPr>
              <a:t>QUESTIONS WITH ≥1 GOLD ARTIFACT IN TOP-12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949" y="2735524"/>
            <a:ext cx="311810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 dirty="0">
                <a:solidFill>
                  <a:srgbClr val="CCD6E3"/>
                </a:solidFill>
                <a:latin typeface="Inter"/>
              </a:rPr>
              <a:t>Curated from real Slack threads in the employing </a:t>
            </a:r>
            <a:r>
              <a:rPr sz="1100" b="0" i="0" dirty="0" err="1">
                <a:solidFill>
                  <a:srgbClr val="CCD6E3"/>
                </a:solidFill>
                <a:latin typeface="Inter"/>
              </a:rPr>
              <a:t>organisation</a:t>
            </a:r>
            <a:r>
              <a:rPr sz="1100" b="0" i="0" dirty="0">
                <a:solidFill>
                  <a:srgbClr val="CCD6E3"/>
                </a:solidFill>
                <a:latin typeface="Inter"/>
              </a:rPr>
              <a:t>, supervisor-graded.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5627" y="1783080"/>
            <a:ext cx="3520440" cy="1691640"/>
          </a:xfrm>
          <a:prstGeom prst="roundRect">
            <a:avLst>
              <a:gd name="adj" fmla="val 12000"/>
            </a:avLst>
          </a:prstGeom>
          <a:solidFill>
            <a:srgbClr val="18244D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35627" y="1783080"/>
            <a:ext cx="3520440" cy="45720"/>
          </a:xfrm>
          <a:prstGeom prst="rect">
            <a:avLst/>
          </a:prstGeom>
          <a:gradFill flip="none" rotWithShape="1">
            <a:gsLst>
              <a:gs pos="0">
                <a:srgbClr val="29DBF4"/>
              </a:gs>
              <a:gs pos="100000">
                <a:srgbClr val="6E70F6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36795" y="1947672"/>
            <a:ext cx="311810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8FAFC"/>
                </a:solidFill>
                <a:latin typeface="Montserrat"/>
              </a:rPr>
              <a:t>≤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52606" y="1988927"/>
            <a:ext cx="2249181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200" dirty="0">
                <a:solidFill>
                  <a:srgbClr val="29DBF4"/>
                </a:solidFill>
                <a:latin typeface="Montserrat"/>
              </a:rPr>
              <a:t>POSITION OF THE FIRST GOLD ARTIFACT (MEDIAN)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2110" y="2677412"/>
            <a:ext cx="311810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 dirty="0">
                <a:solidFill>
                  <a:srgbClr val="CCD6E3"/>
                </a:solidFill>
                <a:latin typeface="Inter"/>
              </a:rPr>
              <a:t>In the majority of cases the first gold artifact appeared in the top three merged hits.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02955" y="1783080"/>
            <a:ext cx="3520440" cy="1691640"/>
          </a:xfrm>
          <a:prstGeom prst="roundRect">
            <a:avLst>
              <a:gd name="adj" fmla="val 12000"/>
            </a:avLst>
          </a:prstGeom>
          <a:solidFill>
            <a:srgbClr val="18244D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02955" y="1783080"/>
            <a:ext cx="3520440" cy="45720"/>
          </a:xfrm>
          <a:prstGeom prst="rect">
            <a:avLst/>
          </a:prstGeom>
          <a:gradFill flip="none" rotWithShape="1">
            <a:gsLst>
              <a:gs pos="0">
                <a:srgbClr val="FBC029"/>
              </a:gs>
              <a:gs pos="100000">
                <a:srgbClr val="6E70F6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04123" y="1947672"/>
            <a:ext cx="311810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8FAFC"/>
                </a:solidFill>
                <a:latin typeface="Montserrat"/>
              </a:rPr>
              <a:t>3 /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1995732"/>
            <a:ext cx="2129771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200" dirty="0">
                <a:solidFill>
                  <a:srgbClr val="FBC029"/>
                </a:solidFill>
                <a:latin typeface="Montserrat"/>
              </a:rPr>
              <a:t>ENGINEERS SHOWED REDUCED CONTEXT-SWITCHES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703320"/>
            <a:ext cx="11064240" cy="2468880"/>
          </a:xfrm>
          <a:prstGeom prst="roundRect">
            <a:avLst>
              <a:gd name="adj" fmla="val 8000"/>
            </a:avLst>
          </a:prstGeom>
          <a:solidFill>
            <a:srgbClr val="18244D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384048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B196FB"/>
                </a:solidFill>
                <a:latin typeface="Montserrat"/>
              </a:rPr>
              <a:t>MAX-POOL RE-RANKING IN THE WILD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16052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8FAFC"/>
                </a:solidFill>
                <a:latin typeface="Montserrat"/>
              </a:rPr>
              <a:t>Max-pool behaved as designed.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754880"/>
            <a:ext cx="106070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 dirty="0">
                <a:solidFill>
                  <a:srgbClr val="CCD6E3"/>
                </a:solidFill>
                <a:latin typeface="Inter"/>
              </a:rPr>
              <a:t>Artifacts that scored only moderately on the user's question but very strongly on a specific commit subject — for example a Jira ticket whose title closely matched a commit subject — were reliably promoted into the top of the merged list.</a:t>
            </a:r>
          </a:p>
          <a:p>
            <a:pPr algn="l">
              <a:lnSpc>
                <a:spcPct val="140000"/>
              </a:lnSpc>
            </a:pPr>
            <a:endParaRPr sz="1200" b="0" i="1" dirty="0">
              <a:solidFill>
                <a:srgbClr val="CCD6E3"/>
              </a:solidFill>
              <a:latin typeface="Inter"/>
            </a:endParaRPr>
          </a:p>
          <a:p>
            <a:pPr algn="l">
              <a:lnSpc>
                <a:spcPct val="140000"/>
              </a:lnSpc>
            </a:pPr>
            <a:r>
              <a:rPr sz="1200" b="0" i="1" dirty="0">
                <a:solidFill>
                  <a:srgbClr val="CCD6E3"/>
                </a:solidFill>
                <a:latin typeface="Inter"/>
              </a:rPr>
              <a:t>A formal precision-recall evaluation against a larger dataset and a NASA-TLX cognitive-load study are identified as future work.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D7F6B3-8463-BC62-A898-265FE18F3EDF}"/>
              </a:ext>
            </a:extLst>
          </p:cNvPr>
          <p:cNvSpPr txBox="1"/>
          <p:nvPr/>
        </p:nvSpPr>
        <p:spPr>
          <a:xfrm>
            <a:off x="8334661" y="2619300"/>
            <a:ext cx="3118104" cy="619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 dirty="0">
                <a:solidFill>
                  <a:srgbClr val="CCD6E3"/>
                </a:solidFill>
                <a:latin typeface="Inter"/>
              </a:rPr>
              <a:t>30-min sessions on unfamiliar repos with vs. without the extension. Self-reported confidence rose because citations are checkable.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90E24"/>
              </a:gs>
              <a:gs pos="100000">
                <a:srgbClr val="121B42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gradFill flip="none" rotWithShape="1">
            <a:gsLst>
              <a:gs pos="0">
                <a:srgbClr val="29DBF4"/>
              </a:gs>
              <a:gs pos="100000">
                <a:srgbClr val="6E70F6"/>
              </a:gs>
            </a:gsLst>
            <a:lin ang="54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293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91440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 dirty="0" err="1">
                <a:solidFill>
                  <a:srgbClr val="96A5BA"/>
                </a:solidFill>
                <a:latin typeface="Inter"/>
              </a:rPr>
              <a:t>IntentEra</a:t>
            </a:r>
            <a:r>
              <a:rPr sz="1000" b="0" i="0" dirty="0">
                <a:solidFill>
                  <a:srgbClr val="96A5BA"/>
                </a:solidFill>
                <a:latin typeface="Inter"/>
              </a:rPr>
              <a:t>  ·  Final </a:t>
            </a:r>
            <a:r>
              <a:rPr lang="en-US" sz="1000" b="0" i="0" dirty="0">
                <a:solidFill>
                  <a:srgbClr val="96A5BA"/>
                </a:solidFill>
                <a:latin typeface="Inter"/>
              </a:rPr>
              <a:t>Term</a:t>
            </a:r>
            <a:r>
              <a:rPr sz="1000" b="0" i="0" dirty="0">
                <a:solidFill>
                  <a:srgbClr val="96A5BA"/>
                </a:solidFill>
                <a:latin typeface="Inter"/>
              </a:rPr>
              <a:t>  ·  Evaluation · Ch 5.10 + 8.3</a:t>
            </a:r>
            <a:r>
              <a:rPr lang="en-US" sz="1000" dirty="0">
                <a:solidFill>
                  <a:srgbClr val="96A5BA"/>
                </a:solidFill>
                <a:latin typeface="Inter"/>
              </a:rPr>
              <a:t> – Aarya Nanndaann Singh M N (2024MT03013)</a:t>
            </a:r>
            <a:endParaRPr sz="1000" b="0" i="0" dirty="0">
              <a:solidFill>
                <a:srgbClr val="96A5BA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0" y="656539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6A5BA"/>
                </a:solidFill>
                <a:latin typeface="JetBrains Mono"/>
              </a:rPr>
              <a:t>27 /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9DBF4"/>
                </a:solidFill>
                <a:latin typeface="Montserrat"/>
              </a:rPr>
              <a:t>OPERATIONAL ECONOMICS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31520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  <a:latin typeface="Montserrat"/>
              </a:rPr>
              <a:t>Latency and cost — viable for a small team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08760"/>
            <a:ext cx="2194560" cy="38100"/>
          </a:xfrm>
          <a:prstGeom prst="rect">
            <a:avLst/>
          </a:prstGeom>
          <a:gradFill flip="none" rotWithShape="1">
            <a:gsLst>
              <a:gs pos="0">
                <a:srgbClr val="29DBF4"/>
              </a:gs>
              <a:gs pos="100000">
                <a:srgbClr val="6E70F6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63727" y="1783080"/>
            <a:ext cx="5440680" cy="2011680"/>
          </a:xfrm>
          <a:prstGeom prst="roundRect">
            <a:avLst>
              <a:gd name="adj" fmla="val 12000"/>
            </a:avLst>
          </a:prstGeom>
          <a:solidFill>
            <a:srgbClr val="18244D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3727" y="1783080"/>
            <a:ext cx="5440680" cy="45720"/>
          </a:xfrm>
          <a:prstGeom prst="rect">
            <a:avLst/>
          </a:prstGeom>
          <a:gradFill flip="none" rotWithShape="1">
            <a:gsLst>
              <a:gs pos="0">
                <a:srgbClr val="29DBF4"/>
              </a:gs>
              <a:gs pos="100000">
                <a:srgbClr val="6E70F6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4895" y="1947672"/>
            <a:ext cx="503834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8FAFC"/>
                </a:solidFill>
                <a:latin typeface="Montserrat"/>
              </a:rPr>
              <a:t>&lt; 5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895" y="2843784"/>
            <a:ext cx="50383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29DBF4"/>
                </a:solidFill>
                <a:latin typeface="Montserrat"/>
              </a:rPr>
              <a:t>TYPICAL END-TO-END CHAT REQUEST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4895" y="3154680"/>
            <a:ext cx="503834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CCD6E3"/>
                </a:solidFill>
                <a:latin typeface="Inter"/>
              </a:rPr>
              <a:t>Measured across 50 real interactions — right-click to rendered answer. Well under the 60 s Lambda timeout. LLM call dominates.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7287" y="1783080"/>
            <a:ext cx="5440680" cy="2011680"/>
          </a:xfrm>
          <a:prstGeom prst="roundRect">
            <a:avLst>
              <a:gd name="adj" fmla="val 12000"/>
            </a:avLst>
          </a:prstGeom>
          <a:solidFill>
            <a:srgbClr val="18244D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87287" y="1783080"/>
            <a:ext cx="5440680" cy="45720"/>
          </a:xfrm>
          <a:prstGeom prst="rect">
            <a:avLst/>
          </a:prstGeom>
          <a:gradFill flip="none" rotWithShape="1">
            <a:gsLst>
              <a:gs pos="0">
                <a:srgbClr val="3DDA9F"/>
              </a:gs>
              <a:gs pos="100000">
                <a:srgbClr val="6E70F6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88455" y="1947672"/>
            <a:ext cx="503834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8FAFC"/>
                </a:solidFill>
                <a:latin typeface="Montserrat"/>
              </a:rPr>
              <a:t>single-digit 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8455" y="2843784"/>
            <a:ext cx="50383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3DDA9F"/>
                </a:solidFill>
                <a:latin typeface="Montserrat"/>
              </a:rPr>
              <a:t>AWS SPEND PER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8455" y="3154680"/>
            <a:ext cx="503834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CCD6E3"/>
                </a:solidFill>
                <a:latin typeface="Inter"/>
              </a:rPr>
              <a:t>Lambdas + Secrets Manager + EventBridge. Atlas M10 is the lower bound of the dedicated tier.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3727" y="3977640"/>
            <a:ext cx="5440680" cy="2011680"/>
          </a:xfrm>
          <a:prstGeom prst="roundRect">
            <a:avLst>
              <a:gd name="adj" fmla="val 12000"/>
            </a:avLst>
          </a:prstGeom>
          <a:solidFill>
            <a:srgbClr val="18244D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63727" y="3977640"/>
            <a:ext cx="5440680" cy="45720"/>
          </a:xfrm>
          <a:prstGeom prst="rect">
            <a:avLst/>
          </a:prstGeom>
          <a:gradFill flip="none" rotWithShape="1">
            <a:gsLst>
              <a:gs pos="0">
                <a:srgbClr val="B196FB"/>
              </a:gs>
              <a:gs pos="100000">
                <a:srgbClr val="6E70F6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4895" y="4142232"/>
            <a:ext cx="503834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8FAFC"/>
                </a:solidFill>
                <a:latin typeface="Montserrat"/>
              </a:rPr>
              <a:t>K ×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4895" y="5038344"/>
            <a:ext cx="50383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B196FB"/>
                </a:solidFill>
                <a:latin typeface="Montserrat"/>
              </a:rPr>
              <a:t>ATLAS $VECTORSEARCH OPS PER CHAT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4895" y="5349240"/>
            <a:ext cx="503834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CCD6E3"/>
                </a:solidFill>
                <a:latin typeface="Inter"/>
              </a:rPr>
              <a:t>K = #queries (1 + per local commit subject); × #stores (Jira + GitHub). Negligible per query, parallelised across stores.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7287" y="3977640"/>
            <a:ext cx="5440680" cy="2011680"/>
          </a:xfrm>
          <a:prstGeom prst="roundRect">
            <a:avLst>
              <a:gd name="adj" fmla="val 12000"/>
            </a:avLst>
          </a:prstGeom>
          <a:solidFill>
            <a:srgbClr val="18244D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87287" y="3977640"/>
            <a:ext cx="5440680" cy="45720"/>
          </a:xfrm>
          <a:prstGeom prst="rect">
            <a:avLst/>
          </a:prstGeom>
          <a:gradFill flip="none" rotWithShape="1">
            <a:gsLst>
              <a:gs pos="0">
                <a:srgbClr val="FBC029"/>
              </a:gs>
              <a:gs pos="100000">
                <a:srgbClr val="6E70F6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88455" y="4142232"/>
            <a:ext cx="503834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8FAFC"/>
                </a:solidFill>
                <a:latin typeface="Montserrat"/>
              </a:rPr>
              <a:t>2 × OpenAI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8455" y="5038344"/>
            <a:ext cx="50383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FBC029"/>
                </a:solidFill>
                <a:latin typeface="Montserrat"/>
              </a:rPr>
              <a:t>EXTERNAL LLM CALLS PER CHAT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8455" y="5349240"/>
            <a:ext cx="503834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CCD6E3"/>
                </a:solidFill>
                <a:latin typeface="Inter"/>
              </a:rPr>
              <a:t>One batched embedding round-trip + one chat completion. Embeddings are amortised across all queries in the request.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1">
                <a:solidFill>
                  <a:srgbClr val="CCD6E3"/>
                </a:solidFill>
                <a:latin typeface="Inter"/>
              </a:rPr>
              <a:t>Incremental sync re-embeds only what changed → OpenAI cost scales with delta, not corpus size.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90E24"/>
              </a:gs>
              <a:gs pos="50000">
                <a:srgbClr val="1B1455"/>
              </a:gs>
              <a:gs pos="100000">
                <a:srgbClr val="352986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-1371600" y="5029200"/>
            <a:ext cx="15087600" cy="548640"/>
          </a:xfrm>
          <a:prstGeom prst="parallelogram">
            <a:avLst>
              <a:gd name="adj" fmla="val 40000"/>
            </a:avLst>
          </a:prstGeom>
          <a:gradFill flip="none" rotWithShape="1">
            <a:gsLst>
              <a:gs pos="0">
                <a:srgbClr val="29DBF4"/>
              </a:gs>
              <a:gs pos="50000">
                <a:srgbClr val="6E70F6"/>
              </a:gs>
              <a:gs pos="100000">
                <a:srgbClr val="B196FB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300">
                <a:solidFill>
                  <a:srgbClr val="29DBF4"/>
                </a:solidFill>
                <a:latin typeface="Montserrat"/>
              </a:rPr>
              <a:t>SECTION 06  ·  CHAPTERS 9 &amp;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800" b="1" i="0">
                <a:solidFill>
                  <a:srgbClr val="F8FAFC"/>
                </a:solidFill>
                <a:latin typeface="Montserrat"/>
              </a:rPr>
              <a:t>What's Next.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519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1">
                <a:solidFill>
                  <a:srgbClr val="CCD6E3"/>
                </a:solidFill>
                <a:latin typeface="Inter"/>
              </a:rPr>
              <a:t>Honest limitations, what we shipped, and where the framework goes from here.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293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91440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 dirty="0" err="1">
                <a:solidFill>
                  <a:srgbClr val="96A5BA"/>
                </a:solidFill>
                <a:latin typeface="Inter"/>
              </a:rPr>
              <a:t>IntentEra</a:t>
            </a:r>
            <a:r>
              <a:rPr sz="1000" b="0" i="0" dirty="0">
                <a:solidFill>
                  <a:srgbClr val="96A5BA"/>
                </a:solidFill>
                <a:latin typeface="Inter"/>
              </a:rPr>
              <a:t>  ·  Final </a:t>
            </a:r>
            <a:r>
              <a:rPr lang="en-US" sz="1000" b="0" i="0" dirty="0">
                <a:solidFill>
                  <a:srgbClr val="96A5BA"/>
                </a:solidFill>
                <a:latin typeface="Inter"/>
              </a:rPr>
              <a:t>Term</a:t>
            </a:r>
            <a:r>
              <a:rPr sz="1000" b="0" i="0" dirty="0">
                <a:solidFill>
                  <a:srgbClr val="96A5BA"/>
                </a:solidFill>
                <a:latin typeface="Inter"/>
              </a:rPr>
              <a:t>  ·  What's Next</a:t>
            </a:r>
            <a:r>
              <a:rPr lang="en-US" sz="1000" dirty="0">
                <a:solidFill>
                  <a:srgbClr val="96A5BA"/>
                </a:solidFill>
                <a:latin typeface="Inter"/>
              </a:rPr>
              <a:t> – Aarya Nanndaann Singh M N (2024MT03013)</a:t>
            </a:r>
            <a:endParaRPr sz="1000" b="0" i="0" dirty="0">
              <a:solidFill>
                <a:srgbClr val="96A5BA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6A5BA"/>
                </a:solidFill>
                <a:latin typeface="JetBrains Mono"/>
              </a:rPr>
              <a:t>28 / 32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90E24"/>
              </a:gs>
              <a:gs pos="100000">
                <a:srgbClr val="121B42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gradFill flip="none" rotWithShape="1">
            <a:gsLst>
              <a:gs pos="0">
                <a:srgbClr val="29DBF4"/>
              </a:gs>
              <a:gs pos="100000">
                <a:srgbClr val="6E70F6"/>
              </a:gs>
            </a:gsLst>
            <a:lin ang="54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293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91440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 dirty="0" err="1">
                <a:solidFill>
                  <a:srgbClr val="96A5BA"/>
                </a:solidFill>
                <a:latin typeface="Inter"/>
              </a:rPr>
              <a:t>IntentEra</a:t>
            </a:r>
            <a:r>
              <a:rPr sz="1000" b="0" i="0" dirty="0">
                <a:solidFill>
                  <a:srgbClr val="96A5BA"/>
                </a:solidFill>
                <a:latin typeface="Inter"/>
              </a:rPr>
              <a:t>  ·  Final </a:t>
            </a:r>
            <a:r>
              <a:rPr lang="en-US" sz="1000" b="0" i="0" dirty="0">
                <a:solidFill>
                  <a:srgbClr val="96A5BA"/>
                </a:solidFill>
                <a:latin typeface="Inter"/>
              </a:rPr>
              <a:t>Term</a:t>
            </a:r>
            <a:r>
              <a:rPr sz="1000" b="0" i="0" dirty="0">
                <a:solidFill>
                  <a:srgbClr val="96A5BA"/>
                </a:solidFill>
                <a:latin typeface="Inter"/>
              </a:rPr>
              <a:t>  ·  Limitations · Ch 9</a:t>
            </a:r>
            <a:r>
              <a:rPr lang="en-US" sz="1000" dirty="0">
                <a:solidFill>
                  <a:srgbClr val="96A5BA"/>
                </a:solidFill>
                <a:latin typeface="Inter"/>
              </a:rPr>
              <a:t> – Aarya Nanndaann Singh M N (2024MT03013)</a:t>
            </a:r>
            <a:endParaRPr sz="1000" b="0" i="0" dirty="0">
              <a:solidFill>
                <a:srgbClr val="96A5BA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0" y="656539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6A5BA"/>
                </a:solidFill>
                <a:latin typeface="JetBrains Mono"/>
              </a:rPr>
              <a:t>29 /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9DBF4"/>
                </a:solidFill>
                <a:latin typeface="Montserrat"/>
              </a:rPr>
              <a:t>WHERE THE SYSTEM STRUGGLES, AND HOW WE MITIGATE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31520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  <a:latin typeface="Montserrat"/>
              </a:rPr>
              <a:t>Challenges and limitations — documented honestly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08760"/>
            <a:ext cx="2194560" cy="38100"/>
          </a:xfrm>
          <a:prstGeom prst="rect">
            <a:avLst/>
          </a:prstGeom>
          <a:gradFill flip="none" rotWithShape="1">
            <a:gsLst>
              <a:gs pos="0">
                <a:srgbClr val="29DBF4"/>
              </a:gs>
              <a:gs pos="100000">
                <a:srgbClr val="6E70F6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3999" y="1783080"/>
            <a:ext cx="2697480" cy="2011680"/>
          </a:xfrm>
          <a:prstGeom prst="roundRect">
            <a:avLst>
              <a:gd name="adj" fmla="val 8000"/>
            </a:avLst>
          </a:prstGeom>
          <a:solidFill>
            <a:srgbClr val="18244D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3999" y="1783080"/>
            <a:ext cx="2697480" cy="38100"/>
          </a:xfrm>
          <a:prstGeom prst="rect">
            <a:avLst/>
          </a:prstGeom>
          <a:gradFill flip="none" rotWithShape="1">
            <a:gsLst>
              <a:gs pos="0">
                <a:srgbClr val="29DBF4"/>
              </a:gs>
              <a:gs pos="100000">
                <a:srgbClr val="6E70F6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8591" y="1984248"/>
            <a:ext cx="23682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Montserrat"/>
              </a:rPr>
              <a:t>NL → code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8591" y="2423160"/>
            <a:ext cx="2368296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CCD6E3"/>
                </a:solidFill>
                <a:latin typeface="Inter"/>
              </a:rPr>
              <a:t>Requirements are informal, code is structured. Multi-query retriever helps; abstract requirements remain edge cases.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6071" y="1783080"/>
            <a:ext cx="2697480" cy="2011680"/>
          </a:xfrm>
          <a:prstGeom prst="roundRect">
            <a:avLst>
              <a:gd name="adj" fmla="val 8000"/>
            </a:avLst>
          </a:prstGeom>
          <a:solidFill>
            <a:srgbClr val="18244D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16071" y="1783080"/>
            <a:ext cx="2697480" cy="38100"/>
          </a:xfrm>
          <a:prstGeom prst="rect">
            <a:avLst/>
          </a:prstGeom>
          <a:gradFill flip="none" rotWithShape="1">
            <a:gsLst>
              <a:gs pos="0">
                <a:srgbClr val="6E70F6"/>
              </a:gs>
              <a:gs pos="100000">
                <a:srgbClr val="6E70F6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80663" y="1984248"/>
            <a:ext cx="23682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Montserrat"/>
              </a:rPr>
              <a:t>Noisy artifacts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0663" y="2423160"/>
            <a:ext cx="2368296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CCD6E3"/>
                </a:solidFill>
                <a:latin typeface="Inter"/>
              </a:rPr>
              <a:t>"minor fix" commits, empty PRs. Mitigated by preserving metadata + ingesting reviewer comments as their own chunks.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8143" y="1783080"/>
            <a:ext cx="2697480" cy="2011680"/>
          </a:xfrm>
          <a:prstGeom prst="roundRect">
            <a:avLst>
              <a:gd name="adj" fmla="val 8000"/>
            </a:avLst>
          </a:prstGeom>
          <a:solidFill>
            <a:srgbClr val="18244D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78143" y="1783080"/>
            <a:ext cx="2697480" cy="38100"/>
          </a:xfrm>
          <a:prstGeom prst="rect">
            <a:avLst/>
          </a:prstGeom>
          <a:gradFill flip="none" rotWithShape="1">
            <a:gsLst>
              <a:gs pos="0">
                <a:srgbClr val="B196FB"/>
              </a:gs>
              <a:gs pos="100000">
                <a:srgbClr val="6E70F6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42735" y="1984248"/>
            <a:ext cx="23682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Montserrat"/>
              </a:rPr>
              <a:t>Missing traceability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2735" y="2423160"/>
            <a:ext cx="2368296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CCD6E3"/>
                </a:solidFill>
                <a:latin typeface="Inter"/>
              </a:rPr>
              <a:t>Many commits don't reference a ticket. Combination of metadata + semantic similarity, with hit counts exposed.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40215" y="1783080"/>
            <a:ext cx="2697480" cy="2011680"/>
          </a:xfrm>
          <a:prstGeom prst="roundRect">
            <a:avLst>
              <a:gd name="adj" fmla="val 8000"/>
            </a:avLst>
          </a:prstGeom>
          <a:solidFill>
            <a:srgbClr val="18244D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040215" y="1783080"/>
            <a:ext cx="2697480" cy="38100"/>
          </a:xfrm>
          <a:prstGeom prst="rect">
            <a:avLst/>
          </a:prstGeom>
          <a:gradFill flip="none" rotWithShape="1">
            <a:gsLst>
              <a:gs pos="0">
                <a:srgbClr val="36DCC4"/>
              </a:gs>
              <a:gs pos="100000">
                <a:srgbClr val="6E70F6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04807" y="1984248"/>
            <a:ext cx="23682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Montserrat"/>
              </a:rPr>
              <a:t>Source heterogeneity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04807" y="2423160"/>
            <a:ext cx="2368296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CCD6E3"/>
                </a:solidFill>
                <a:latin typeface="Inter"/>
              </a:rPr>
              <a:t>Each platform has its own format and rate-limits. Per-source normalisers and Redis state keep the reasoning core clean.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3999" y="3977640"/>
            <a:ext cx="2697480" cy="2011680"/>
          </a:xfrm>
          <a:prstGeom prst="roundRect">
            <a:avLst>
              <a:gd name="adj" fmla="val 8000"/>
            </a:avLst>
          </a:prstGeom>
          <a:solidFill>
            <a:srgbClr val="18244D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3999" y="3977640"/>
            <a:ext cx="2697480" cy="38100"/>
          </a:xfrm>
          <a:prstGeom prst="rect">
            <a:avLst/>
          </a:prstGeom>
          <a:gradFill flip="none" rotWithShape="1">
            <a:gsLst>
              <a:gs pos="0">
                <a:srgbClr val="FBC029"/>
              </a:gs>
              <a:gs pos="100000">
                <a:srgbClr val="6E70F6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8591" y="4178808"/>
            <a:ext cx="23682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Montserrat"/>
              </a:rPr>
              <a:t>LLM hallucination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8591" y="4617720"/>
            <a:ext cx="2368296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CCD6E3"/>
                </a:solidFill>
                <a:latin typeface="Inter"/>
              </a:rPr>
              <a:t>Three-layer defence: JSON-mode + post-filter + clickable citations. Cannot guarantee zero, substantially reduced.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16071" y="3977640"/>
            <a:ext cx="2697480" cy="2011680"/>
          </a:xfrm>
          <a:prstGeom prst="roundRect">
            <a:avLst>
              <a:gd name="adj" fmla="val 8000"/>
            </a:avLst>
          </a:prstGeom>
          <a:solidFill>
            <a:srgbClr val="18244D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316071" y="3977640"/>
            <a:ext cx="2697480" cy="38100"/>
          </a:xfrm>
          <a:prstGeom prst="rect">
            <a:avLst/>
          </a:prstGeom>
          <a:gradFill flip="none" rotWithShape="1">
            <a:gsLst>
              <a:gs pos="0">
                <a:srgbClr val="3DDA9F"/>
              </a:gs>
              <a:gs pos="100000">
                <a:srgbClr val="6E70F6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80663" y="4178808"/>
            <a:ext cx="23682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Montserrat"/>
              </a:rPr>
              <a:t>Cold start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80663" y="4617720"/>
            <a:ext cx="2368296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CCD6E3"/>
                </a:solidFill>
                <a:latin typeface="Inter"/>
              </a:rPr>
              <a:t>Mongo / Redis / OpenAI clients are cached across warm invocations. Provisioned concurrency is available if needed.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8143" y="3977640"/>
            <a:ext cx="2697480" cy="2011680"/>
          </a:xfrm>
          <a:prstGeom prst="roundRect">
            <a:avLst>
              <a:gd name="adj" fmla="val 8000"/>
            </a:avLst>
          </a:prstGeom>
          <a:solidFill>
            <a:srgbClr val="18244D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178143" y="3977640"/>
            <a:ext cx="2697480" cy="38100"/>
          </a:xfrm>
          <a:prstGeom prst="rect">
            <a:avLst/>
          </a:prstGeom>
          <a:gradFill flip="none" rotWithShape="1">
            <a:gsLst>
              <a:gs pos="0">
                <a:srgbClr val="FB7BA8"/>
              </a:gs>
              <a:gs pos="100000">
                <a:srgbClr val="6E70F6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42735" y="4178808"/>
            <a:ext cx="23682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Montserrat"/>
              </a:rPr>
              <a:t>Scale &amp; scope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42735" y="4617720"/>
            <a:ext cx="2368296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CCD6E3"/>
                </a:solidFill>
                <a:latin typeface="Inter"/>
              </a:rPr>
              <a:t>2 source families today, managed-cloud only, no benchmarks at 100k+ artifacts yet. Designed for incremental growth.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90E24"/>
              </a:gs>
              <a:gs pos="100000">
                <a:srgbClr val="121B42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gradFill flip="none" rotWithShape="1">
            <a:gsLst>
              <a:gs pos="0">
                <a:srgbClr val="29DBF4"/>
              </a:gs>
              <a:gs pos="100000">
                <a:srgbClr val="6E70F6"/>
              </a:gs>
            </a:gsLst>
            <a:lin ang="54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293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91440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 dirty="0" err="1">
                <a:solidFill>
                  <a:srgbClr val="96A5BA"/>
                </a:solidFill>
                <a:latin typeface="Inter"/>
              </a:rPr>
              <a:t>IntentEra</a:t>
            </a:r>
            <a:r>
              <a:rPr sz="1000" b="0" i="0" dirty="0">
                <a:solidFill>
                  <a:srgbClr val="96A5BA"/>
                </a:solidFill>
                <a:latin typeface="Inter"/>
              </a:rPr>
              <a:t>  ·  Final </a:t>
            </a:r>
            <a:r>
              <a:rPr lang="en-US" sz="1000" b="0" i="0" dirty="0">
                <a:solidFill>
                  <a:srgbClr val="96A5BA"/>
                </a:solidFill>
                <a:latin typeface="Inter"/>
              </a:rPr>
              <a:t>Term</a:t>
            </a:r>
            <a:r>
              <a:rPr sz="1000" b="0" i="0" dirty="0">
                <a:solidFill>
                  <a:srgbClr val="96A5BA"/>
                </a:solidFill>
                <a:latin typeface="Inter"/>
              </a:rPr>
              <a:t>  ·  Improvements · already shipped</a:t>
            </a:r>
            <a:r>
              <a:rPr lang="en-US" sz="1000" dirty="0">
                <a:solidFill>
                  <a:srgbClr val="96A5BA"/>
                </a:solidFill>
                <a:latin typeface="Inter"/>
              </a:rPr>
              <a:t> – Aarya Nanndaann Singh M N (2024MT03013)</a:t>
            </a:r>
            <a:endParaRPr sz="1000" b="0" i="0" dirty="0">
              <a:solidFill>
                <a:srgbClr val="96A5BA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0" y="656539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6A5BA"/>
                </a:solidFill>
                <a:latin typeface="JetBrains Mono"/>
              </a:rPr>
              <a:t>30 /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9DBF4"/>
                </a:solidFill>
                <a:latin typeface="Montserrat"/>
              </a:rPr>
              <a:t>CURRENT IMPROVEMENTS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31520"/>
            <a:ext cx="1115568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>
                <a:solidFill>
                  <a:srgbClr val="F8FAFC"/>
                </a:solidFill>
                <a:latin typeface="Montserrat"/>
              </a:rPr>
              <a:t>What's improved since the midterm </a:t>
            </a:r>
            <a:r>
              <a:rPr lang="en-US" sz="2800" b="1" i="0" dirty="0">
                <a:solidFill>
                  <a:srgbClr val="F8FAFC"/>
                </a:solidFill>
                <a:latin typeface="Montserrat"/>
              </a:rPr>
              <a:t>- </a:t>
            </a:r>
            <a:r>
              <a:rPr sz="2800" b="1" i="0" dirty="0">
                <a:solidFill>
                  <a:srgbClr val="F8FAFC"/>
                </a:solidFill>
                <a:latin typeface="Montserrat"/>
              </a:rPr>
              <a:t>already in</a:t>
            </a:r>
            <a:r>
              <a:rPr lang="en-US" sz="2800" b="1" i="0" dirty="0">
                <a:solidFill>
                  <a:srgbClr val="F8FAFC"/>
                </a:solidFill>
                <a:latin typeface="Montserrat"/>
              </a:rPr>
              <a:t> </a:t>
            </a:r>
            <a:r>
              <a:rPr sz="2800" b="1" i="0" dirty="0">
                <a:solidFill>
                  <a:srgbClr val="F8FAFC"/>
                </a:solidFill>
                <a:latin typeface="Montserrat"/>
              </a:rPr>
              <a:t>production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08760"/>
            <a:ext cx="2194560" cy="38100"/>
          </a:xfrm>
          <a:prstGeom prst="rect">
            <a:avLst/>
          </a:prstGeom>
          <a:gradFill flip="none" rotWithShape="1">
            <a:gsLst>
              <a:gs pos="0">
                <a:srgbClr val="29DBF4"/>
              </a:gs>
              <a:gs pos="100000">
                <a:srgbClr val="6E70F6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80263" y="1828800"/>
            <a:ext cx="2194560" cy="4114800"/>
          </a:xfrm>
          <a:prstGeom prst="roundRect">
            <a:avLst>
              <a:gd name="adj" fmla="val 10000"/>
            </a:avLst>
          </a:prstGeom>
          <a:solidFill>
            <a:srgbClr val="18244D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20343" y="2148840"/>
            <a:ext cx="914400" cy="914400"/>
          </a:xfrm>
          <a:prstGeom prst="ellipse">
            <a:avLst/>
          </a:prstGeom>
          <a:gradFill flip="none" rotWithShape="1">
            <a:gsLst>
              <a:gs pos="0">
                <a:srgbClr val="29DBF4"/>
              </a:gs>
              <a:gs pos="100000">
                <a:srgbClr val="6E70F6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3600" b="1">
                <a:solidFill>
                  <a:srgbClr val="F8FAFC"/>
                </a:solidFill>
                <a:latin typeface="Montserrat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7423" y="3291840"/>
            <a:ext cx="1920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8FAFC"/>
                </a:solidFill>
                <a:latin typeface="Montserrat"/>
              </a:rPr>
              <a:t>Section-aware chunker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855" y="4160520"/>
            <a:ext cx="1865376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 i="0">
                <a:solidFill>
                  <a:srgbClr val="CCD6E3"/>
                </a:solidFill>
                <a:latin typeface="Inter"/>
              </a:rPr>
              <a:t>Replaces uniform-length splits with one-idea-per-chunk windows. Removed cross-boundary loss of key claims.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39415" y="1828800"/>
            <a:ext cx="2194560" cy="4114800"/>
          </a:xfrm>
          <a:prstGeom prst="roundRect">
            <a:avLst>
              <a:gd name="adj" fmla="val 10000"/>
            </a:avLst>
          </a:prstGeom>
          <a:solidFill>
            <a:srgbClr val="18244D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279495" y="2148840"/>
            <a:ext cx="914400" cy="914400"/>
          </a:xfrm>
          <a:prstGeom prst="ellipse">
            <a:avLst/>
          </a:prstGeom>
          <a:gradFill flip="none" rotWithShape="1">
            <a:gsLst>
              <a:gs pos="0">
                <a:srgbClr val="6E70F6"/>
              </a:gs>
              <a:gs pos="100000">
                <a:srgbClr val="6E70F6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3600" b="1">
                <a:solidFill>
                  <a:srgbClr val="F8FAFC"/>
                </a:solidFill>
                <a:latin typeface="Montserrat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76575" y="3291840"/>
            <a:ext cx="1920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8FAFC"/>
                </a:solidFill>
                <a:latin typeface="Montserrat"/>
              </a:rPr>
              <a:t>JSON-mode + post-filter grounding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4007" y="4160520"/>
            <a:ext cx="1865376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 i="0">
                <a:solidFill>
                  <a:srgbClr val="CCD6E3"/>
                </a:solidFill>
                <a:latin typeface="Inter"/>
              </a:rPr>
              <a:t>LLM forced into JSON-mode; uncited identifiers stripped before reaching the developer. Eliminates fabricated SHAs.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98567" y="1828800"/>
            <a:ext cx="2194560" cy="4114800"/>
          </a:xfrm>
          <a:prstGeom prst="roundRect">
            <a:avLst>
              <a:gd name="adj" fmla="val 10000"/>
            </a:avLst>
          </a:prstGeom>
          <a:solidFill>
            <a:srgbClr val="18244D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638647" y="2148840"/>
            <a:ext cx="914400" cy="914400"/>
          </a:xfrm>
          <a:prstGeom prst="ellipse">
            <a:avLst/>
          </a:prstGeom>
          <a:gradFill flip="none" rotWithShape="1">
            <a:gsLst>
              <a:gs pos="0">
                <a:srgbClr val="B196FB"/>
              </a:gs>
              <a:gs pos="100000">
                <a:srgbClr val="6E70F6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3600" b="1">
                <a:solidFill>
                  <a:srgbClr val="F8FAFC"/>
                </a:solidFill>
                <a:latin typeface="Montserrat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35727" y="3291840"/>
            <a:ext cx="1920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8FAFC"/>
                </a:solidFill>
                <a:latin typeface="Montserrat"/>
              </a:rPr>
              <a:t>Max-pool re-ranking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3159" y="4160520"/>
            <a:ext cx="1865376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 i="0">
                <a:solidFill>
                  <a:srgbClr val="CCD6E3"/>
                </a:solidFill>
                <a:latin typeface="Inter"/>
              </a:rPr>
              <a:t>Single-batch query embedding + parallel $vectorSearch + max-pool merge replaces single-query nearest-neighbour search.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57719" y="1828800"/>
            <a:ext cx="2194560" cy="4114800"/>
          </a:xfrm>
          <a:prstGeom prst="roundRect">
            <a:avLst>
              <a:gd name="adj" fmla="val 10000"/>
            </a:avLst>
          </a:prstGeom>
          <a:solidFill>
            <a:srgbClr val="18244D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997799" y="2148840"/>
            <a:ext cx="914400" cy="914400"/>
          </a:xfrm>
          <a:prstGeom prst="ellipse">
            <a:avLst/>
          </a:prstGeom>
          <a:gradFill flip="none" rotWithShape="1">
            <a:gsLst>
              <a:gs pos="0">
                <a:srgbClr val="36DCC4"/>
              </a:gs>
              <a:gs pos="100000">
                <a:srgbClr val="6E70F6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3600" b="1">
                <a:solidFill>
                  <a:srgbClr val="F8FAFC"/>
                </a:solidFill>
                <a:latin typeface="Montserrat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4879" y="3291840"/>
            <a:ext cx="1920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8FAFC"/>
                </a:solidFill>
                <a:latin typeface="Montserrat"/>
              </a:rPr>
              <a:t>Loopback Local Git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2311" y="4160520"/>
            <a:ext cx="1865376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 i="0">
                <a:solidFill>
                  <a:srgbClr val="CCD6E3"/>
                </a:solidFill>
                <a:latin typeface="Inter"/>
              </a:rPr>
              <a:t>Replaces sending diffs/patches to the cloud. Only metadata leaves the machine; agent binds to 127.0.0.1.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16871" y="1828800"/>
            <a:ext cx="2194560" cy="4114800"/>
          </a:xfrm>
          <a:prstGeom prst="roundRect">
            <a:avLst>
              <a:gd name="adj" fmla="val 10000"/>
            </a:avLst>
          </a:prstGeom>
          <a:solidFill>
            <a:srgbClr val="18244D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356951" y="2148840"/>
            <a:ext cx="914400" cy="914400"/>
          </a:xfrm>
          <a:prstGeom prst="ellipse">
            <a:avLst/>
          </a:prstGeom>
          <a:gradFill flip="none" rotWithShape="1">
            <a:gsLst>
              <a:gs pos="0">
                <a:srgbClr val="FBC029"/>
              </a:gs>
              <a:gs pos="100000">
                <a:srgbClr val="6E70F6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3600" b="1">
                <a:solidFill>
                  <a:srgbClr val="F8FAFC"/>
                </a:solidFill>
                <a:latin typeface="Montserrat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54031" y="3291840"/>
            <a:ext cx="1920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8FAFC"/>
                </a:solidFill>
                <a:latin typeface="Montserrat"/>
              </a:rPr>
              <a:t>Single VSIX, two IDEs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81463" y="4160520"/>
            <a:ext cx="1865376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 i="0">
                <a:solidFill>
                  <a:srgbClr val="CCD6E3"/>
                </a:solidFill>
                <a:latin typeface="Inter"/>
              </a:rPr>
              <a:t>One artifact installs into both VS Code and Cursor. Same right-click commands, same sidebar everywhere.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90E24"/>
              </a:gs>
              <a:gs pos="100000">
                <a:srgbClr val="121B42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gradFill flip="none" rotWithShape="1">
            <a:gsLst>
              <a:gs pos="0">
                <a:srgbClr val="29DBF4"/>
              </a:gs>
              <a:gs pos="100000">
                <a:srgbClr val="6E70F6"/>
              </a:gs>
            </a:gsLst>
            <a:lin ang="54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293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65392"/>
            <a:ext cx="91440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 dirty="0" err="1">
                <a:solidFill>
                  <a:srgbClr val="96A5BA"/>
                </a:solidFill>
                <a:latin typeface="Inter"/>
              </a:rPr>
              <a:t>IntentEra</a:t>
            </a:r>
            <a:r>
              <a:rPr sz="1000" b="0" i="0" dirty="0">
                <a:solidFill>
                  <a:srgbClr val="96A5BA"/>
                </a:solidFill>
                <a:latin typeface="Inter"/>
              </a:rPr>
              <a:t>  ·  Final </a:t>
            </a:r>
            <a:r>
              <a:rPr lang="en-US" sz="1000" b="0" i="0" dirty="0">
                <a:solidFill>
                  <a:srgbClr val="96A5BA"/>
                </a:solidFill>
                <a:latin typeface="Inter"/>
              </a:rPr>
              <a:t>Term</a:t>
            </a:r>
            <a:r>
              <a:rPr sz="1000" b="0" i="0" dirty="0">
                <a:solidFill>
                  <a:srgbClr val="96A5BA"/>
                </a:solidFill>
                <a:latin typeface="Inter"/>
              </a:rPr>
              <a:t>  ·  Future Work · Ch 10.4</a:t>
            </a:r>
            <a:r>
              <a:rPr lang="en-US" sz="1000" dirty="0">
                <a:solidFill>
                  <a:srgbClr val="96A5BA"/>
                </a:solidFill>
                <a:latin typeface="Inter"/>
              </a:rPr>
              <a:t> – Aarya Nanndaann Singh M N (2024MT03013)</a:t>
            </a:r>
            <a:endParaRPr sz="1000" b="0" i="0" dirty="0">
              <a:solidFill>
                <a:srgbClr val="96A5BA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0" y="656539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6A5BA"/>
                </a:solidFill>
                <a:latin typeface="JetBrains Mono"/>
              </a:rPr>
              <a:t>31 /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9DBF4"/>
                </a:solidFill>
                <a:latin typeface="Montserrat"/>
              </a:rPr>
              <a:t>FUTURE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31520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  <a:latin typeface="Montserrat"/>
              </a:rPr>
              <a:t>Five directions worth pursuing next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08760"/>
            <a:ext cx="2194560" cy="38100"/>
          </a:xfrm>
          <a:prstGeom prst="rect">
            <a:avLst/>
          </a:prstGeom>
          <a:gradFill flip="none" rotWithShape="1">
            <a:gsLst>
              <a:gs pos="0">
                <a:srgbClr val="29DBF4"/>
              </a:gs>
              <a:gs pos="100000">
                <a:srgbClr val="6E70F6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8640" y="1783080"/>
            <a:ext cx="11064240" cy="850392"/>
          </a:xfrm>
          <a:prstGeom prst="roundRect">
            <a:avLst>
              <a:gd name="adj" fmla="val 8000"/>
            </a:avLst>
          </a:prstGeom>
          <a:solidFill>
            <a:srgbClr val="18244D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1783080"/>
            <a:ext cx="777240" cy="850392"/>
          </a:xfrm>
          <a:prstGeom prst="rect">
            <a:avLst/>
          </a:prstGeom>
          <a:gradFill flip="none" rotWithShape="1">
            <a:gsLst>
              <a:gs pos="0">
                <a:srgbClr val="29DBF4"/>
              </a:gs>
              <a:gs pos="100000">
                <a:srgbClr val="6E70F6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8FAFC"/>
                </a:solidFill>
                <a:latin typeface="JetBrains Mono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87452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Montserrat"/>
              </a:rPr>
              <a:t>Code Evolution Graph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194560"/>
            <a:ext cx="9921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CD6E3"/>
                </a:solidFill>
                <a:latin typeface="Inter"/>
              </a:rPr>
              <a:t>Index the repository's call graph as a first-class artifact — answer questions that depend on cross-file structure, not only textual similarity.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24912"/>
            <a:ext cx="11064240" cy="850392"/>
          </a:xfrm>
          <a:prstGeom prst="roundRect">
            <a:avLst>
              <a:gd name="adj" fmla="val 8000"/>
            </a:avLst>
          </a:prstGeom>
          <a:solidFill>
            <a:srgbClr val="18244D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2724912"/>
            <a:ext cx="777240" cy="850392"/>
          </a:xfrm>
          <a:prstGeom prst="rect">
            <a:avLst/>
          </a:prstGeom>
          <a:gradFill flip="none" rotWithShape="1">
            <a:gsLst>
              <a:gs pos="0">
                <a:srgbClr val="6E70F6"/>
              </a:gs>
              <a:gs pos="100000">
                <a:srgbClr val="6E70F6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8FAFC"/>
                </a:solidFill>
                <a:latin typeface="JetBrains Mono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816352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Montserrat"/>
              </a:rPr>
              <a:t>Explainable per-citation Confidence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136392"/>
            <a:ext cx="9921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CD6E3"/>
                </a:solidFill>
                <a:latin typeface="Inter"/>
              </a:rPr>
              <a:t>Surface the per-query hit counts already computed by the retriever — let developers calibrate trust per cited artifact.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66744"/>
            <a:ext cx="11064240" cy="850392"/>
          </a:xfrm>
          <a:prstGeom prst="roundRect">
            <a:avLst>
              <a:gd name="adj" fmla="val 8000"/>
            </a:avLst>
          </a:prstGeom>
          <a:solidFill>
            <a:srgbClr val="18244D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8640" y="3666744"/>
            <a:ext cx="777240" cy="850392"/>
          </a:xfrm>
          <a:prstGeom prst="rect">
            <a:avLst/>
          </a:prstGeom>
          <a:gradFill flip="none" rotWithShape="1">
            <a:gsLst>
              <a:gs pos="0">
                <a:srgbClr val="B196FB"/>
              </a:gs>
              <a:gs pos="100000">
                <a:srgbClr val="6E70F6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8FAFC"/>
                </a:solidFill>
                <a:latin typeface="JetBrains Mono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758184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Montserrat"/>
              </a:rPr>
              <a:t>Regression-Test Suggestion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078224"/>
            <a:ext cx="9921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CD6E3"/>
                </a:solidFill>
                <a:latin typeface="Inter"/>
              </a:rPr>
              <a:t>Extension of the Validation/Test agent — propose specific tests to add after a fix, grounded in the same artifacts the chat answer cites.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08576"/>
            <a:ext cx="11064240" cy="850392"/>
          </a:xfrm>
          <a:prstGeom prst="roundRect">
            <a:avLst>
              <a:gd name="adj" fmla="val 8000"/>
            </a:avLst>
          </a:prstGeom>
          <a:solidFill>
            <a:srgbClr val="18244D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8640" y="4608576"/>
            <a:ext cx="777240" cy="850392"/>
          </a:xfrm>
          <a:prstGeom prst="rect">
            <a:avLst/>
          </a:prstGeom>
          <a:gradFill flip="none" rotWithShape="1">
            <a:gsLst>
              <a:gs pos="0">
                <a:srgbClr val="36DCC4"/>
              </a:gs>
              <a:gs pos="100000">
                <a:srgbClr val="6E70F6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8FAFC"/>
                </a:solidFill>
                <a:latin typeface="JetBrains Mon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700016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Montserrat"/>
              </a:rPr>
              <a:t>Cross-Repository Dependency Tracing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020056"/>
            <a:ext cx="9921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CD6E3"/>
                </a:solidFill>
                <a:latin typeface="Inter"/>
              </a:rPr>
              <a:t>Ingest multiple repositories and express their dependencies in the vector index — addresses platform-and-service split monorepos.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50408"/>
            <a:ext cx="11064240" cy="850392"/>
          </a:xfrm>
          <a:prstGeom prst="roundRect">
            <a:avLst>
              <a:gd name="adj" fmla="val 8000"/>
            </a:avLst>
          </a:prstGeom>
          <a:solidFill>
            <a:srgbClr val="18244D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5550408"/>
            <a:ext cx="777240" cy="850392"/>
          </a:xfrm>
          <a:prstGeom prst="rect">
            <a:avLst/>
          </a:prstGeom>
          <a:gradFill flip="none" rotWithShape="1">
            <a:gsLst>
              <a:gs pos="0">
                <a:srgbClr val="FBC029"/>
              </a:gs>
              <a:gs pos="100000">
                <a:srgbClr val="6E70F6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8FAFC"/>
                </a:solidFill>
                <a:latin typeface="JetBrains Mono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641848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Montserrat"/>
              </a:rPr>
              <a:t>Knowledge-Graph Semantic Memory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961888"/>
            <a:ext cx="9921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CD6E3"/>
                </a:solidFill>
                <a:latin typeface="Inter"/>
              </a:rPr>
              <a:t>Layer an explicit knowledge graph on top of the vector store — enables path-based and temporal questions that vector similarity alone cannot support.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90E24"/>
              </a:gs>
              <a:gs pos="55000">
                <a:srgbClr val="1A1868"/>
              </a:gs>
              <a:gs pos="100000">
                <a:srgbClr val="073F52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293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565392"/>
            <a:ext cx="91440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 dirty="0" err="1">
                <a:solidFill>
                  <a:srgbClr val="96A5BA"/>
                </a:solidFill>
                <a:latin typeface="Inter"/>
              </a:rPr>
              <a:t>IntentEra</a:t>
            </a:r>
            <a:r>
              <a:rPr sz="1000" b="0" i="0" dirty="0">
                <a:solidFill>
                  <a:srgbClr val="96A5BA"/>
                </a:solidFill>
                <a:latin typeface="Inter"/>
              </a:rPr>
              <a:t>  ·  Final </a:t>
            </a:r>
            <a:r>
              <a:rPr lang="en-US" sz="1000" b="0" i="0" dirty="0">
                <a:solidFill>
                  <a:srgbClr val="96A5BA"/>
                </a:solidFill>
                <a:latin typeface="Inter"/>
              </a:rPr>
              <a:t>Term</a:t>
            </a:r>
            <a:r>
              <a:rPr sz="1000" b="0" i="0" dirty="0">
                <a:solidFill>
                  <a:srgbClr val="96A5BA"/>
                </a:solidFill>
                <a:latin typeface="Inter"/>
              </a:rPr>
              <a:t>  ·  Conclusion</a:t>
            </a:r>
            <a:r>
              <a:rPr lang="en-US" sz="1000" dirty="0">
                <a:solidFill>
                  <a:srgbClr val="96A5BA"/>
                </a:solidFill>
                <a:latin typeface="Inter"/>
              </a:rPr>
              <a:t> – Aarya Nanndaann Singh M N (2024MT03013)</a:t>
            </a:r>
            <a:endParaRPr sz="1000" b="0" i="0" dirty="0">
              <a:solidFill>
                <a:srgbClr val="96A5BA"/>
              </a:solidFill>
              <a:latin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607040" y="656539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6A5BA"/>
                </a:solidFill>
                <a:latin typeface="JetBrains Mono"/>
              </a:rPr>
              <a:t>32 / 32</a:t>
            </a:r>
          </a:p>
        </p:txBody>
      </p:sp>
      <p:sp>
        <p:nvSpPr>
          <p:cNvPr id="6" name="Oval 5"/>
          <p:cNvSpPr/>
          <p:nvPr/>
        </p:nvSpPr>
        <p:spPr>
          <a:xfrm>
            <a:off x="6858000" y="-822960"/>
            <a:ext cx="6400800" cy="6400800"/>
          </a:xfrm>
          <a:prstGeom prst="ellipse">
            <a:avLst/>
          </a:prstGeom>
          <a:noFill/>
          <a:ln w="12700">
            <a:solidFill>
              <a:srgbClr val="6E7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863840" y="182880"/>
            <a:ext cx="4389120" cy="4389120"/>
          </a:xfrm>
          <a:prstGeom prst="ellipse">
            <a:avLst/>
          </a:prstGeom>
          <a:noFill/>
          <a:ln w="12700">
            <a:solidFill>
              <a:srgbClr val="B19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0" y="1005840"/>
            <a:ext cx="2743200" cy="2743200"/>
          </a:xfrm>
          <a:prstGeom prst="ellipse">
            <a:avLst/>
          </a:prstGeom>
          <a:noFill/>
          <a:ln w="12700">
            <a:solidFill>
              <a:srgbClr val="29D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5943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29DBF4"/>
                </a:solidFill>
                <a:latin typeface="Montserrat"/>
              </a:rPr>
              <a:t>CHAPTER 10  ·  CLOSING REMARK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143000"/>
            <a:ext cx="105156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F8FAFC"/>
                </a:solidFill>
                <a:latin typeface="Montserrat"/>
              </a:rPr>
              <a:t>Implementation rationale,</a:t>
            </a:r>
          </a:p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F8FAFC"/>
                </a:solidFill>
                <a:latin typeface="Montserrat"/>
              </a:rPr>
              <a:t>often assumed to be irretrievably lost</a:t>
            </a:r>
          </a:p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F8FAFC"/>
                </a:solidFill>
                <a:latin typeface="Montserrat"/>
              </a:rPr>
              <a:t>as software evolves,</a:t>
            </a:r>
          </a:p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F8FAFC"/>
                </a:solidFill>
                <a:latin typeface="Montserrat"/>
              </a:rPr>
              <a:t>can in fact be computationally reconstructed.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657600"/>
            <a:ext cx="3108960" cy="57150"/>
          </a:xfrm>
          <a:prstGeom prst="rect">
            <a:avLst/>
          </a:prstGeom>
          <a:gradFill flip="none" rotWithShape="1">
            <a:gsLst>
              <a:gs pos="0">
                <a:srgbClr val="29DBF4"/>
              </a:gs>
              <a:gs pos="60000">
                <a:srgbClr val="6E70F6"/>
              </a:gs>
              <a:gs pos="100000">
                <a:srgbClr val="B196FB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88620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CCD6E3"/>
                </a:solidFill>
                <a:latin typeface="Inter"/>
              </a:rPr>
              <a:t>IntentEra demonstrates that intent-aware development environments are not only feasible but practical — and that traceability can be an active form of cognitive augmentation, not a documentation aspiration.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74920"/>
            <a:ext cx="6400800" cy="1280160"/>
          </a:xfrm>
          <a:prstGeom prst="roundRect">
            <a:avLst>
              <a:gd name="adj" fmla="val 10000"/>
            </a:avLst>
          </a:prstGeom>
          <a:solidFill>
            <a:srgbClr val="10183A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5166360"/>
            <a:ext cx="6035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29DBF4"/>
                </a:solidFill>
                <a:latin typeface="Montserrat"/>
              </a:rPr>
              <a:t>THANK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486400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8FAFC"/>
                </a:solidFill>
                <a:latin typeface="Montserrat"/>
              </a:rPr>
              <a:t>Questions &amp; Discussion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943600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CCD6E3"/>
                </a:solidFill>
                <a:latin typeface="Inter"/>
              </a:rPr>
              <a:t>With thanks to my supervisor, examiner and faculty mentor.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5074920"/>
            <a:ext cx="4114800" cy="1280160"/>
          </a:xfrm>
          <a:prstGeom prst="roundRect">
            <a:avLst>
              <a:gd name="adj" fmla="val 10000"/>
            </a:avLst>
          </a:prstGeom>
          <a:solidFill>
            <a:srgbClr val="10183A"/>
          </a:solidFill>
          <a:ln w="9525">
            <a:solidFill>
              <a:srgbClr val="3345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79" y="5166360"/>
            <a:ext cx="37490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B196FB"/>
                </a:solidFill>
                <a:latin typeface="Montserrat"/>
              </a:rPr>
              <a:t>AARYA NANNDAANN SINGH M 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5440680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JetBrains Mono"/>
              </a:rPr>
              <a:t>BITS ID  ·  2024MT03013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5760720"/>
            <a:ext cx="37490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CD6E3"/>
                </a:solidFill>
                <a:latin typeface="Inter"/>
              </a:rPr>
              <a:t>M.Tech Cloud Computing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CD6E3"/>
                </a:solidFill>
                <a:latin typeface="Inter"/>
              </a:rPr>
              <a:t>WILP Dissertation CCZG628T  ·  May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3831</Words>
  <Application>Microsoft Macintosh PowerPoint</Application>
  <PresentationFormat>Widescreen</PresentationFormat>
  <Paragraphs>529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Aptos</vt:lpstr>
      <vt:lpstr>Arial</vt:lpstr>
      <vt:lpstr>Calibri</vt:lpstr>
      <vt:lpstr>Inter</vt:lpstr>
      <vt:lpstr>JetBrains Mono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Aarya Singh</cp:lastModifiedBy>
  <cp:revision>2</cp:revision>
  <dcterms:created xsi:type="dcterms:W3CDTF">2013-01-27T09:14:16Z</dcterms:created>
  <dcterms:modified xsi:type="dcterms:W3CDTF">2026-05-12T12:57:31Z</dcterms:modified>
  <cp:category/>
</cp:coreProperties>
</file>