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488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38DEC-D0DD-F64C-AE52-E6234645EFE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82619-8C0D-B145-A70E-D1A2ED7E9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23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482619-8C0D-B145-A70E-D1A2ED7E9D5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38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55000">
                <a:srgbClr val="181764"/>
              </a:gs>
              <a:gs pos="100000">
                <a:srgbClr val="063F4E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40680" y="-411480"/>
            <a:ext cx="7772400" cy="7772400"/>
          </a:xfrm>
          <a:prstGeom prst="ellipse">
            <a:avLst/>
          </a:prstGeom>
          <a:noFill/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0" y="731520"/>
            <a:ext cx="5486400" cy="5486400"/>
          </a:xfrm>
          <a:prstGeom prst="ellipse">
            <a:avLst/>
          </a:prstGeom>
          <a:noFill/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0" y="1645920"/>
            <a:ext cx="3657600" cy="3657600"/>
          </a:xfrm>
          <a:prstGeom prst="ellipse">
            <a:avLst/>
          </a:prstGeom>
          <a:noFill/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6400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 dirty="0">
                <a:solidFill>
                  <a:srgbClr val="22D3EE"/>
                </a:solidFill>
                <a:latin typeface="Montserrat"/>
              </a:rPr>
              <a:t>M.TECH CLOUD COMPUTING  ·  MIDTERM DISSERTATION REVIEW</a:t>
            </a:r>
            <a:r>
              <a:rPr lang="en-US" sz="1200" b="1" spc="300" dirty="0">
                <a:solidFill>
                  <a:srgbClr val="22D3EE"/>
                </a:solidFill>
                <a:latin typeface="Montserrat"/>
              </a:rPr>
              <a:t>  .  WILP - BITS, PILANI</a:t>
            </a:r>
            <a:endParaRPr sz="1200" b="1" i="0" spc="300" dirty="0">
              <a:solidFill>
                <a:srgbClr val="22D3EE"/>
              </a:solidFill>
              <a:latin typeface="Montserra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8FAFC"/>
                </a:solidFill>
                <a:latin typeface="Montserrat"/>
              </a:rPr>
              <a:t>Semantic Reconstruction</a:t>
            </a:r>
          </a:p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8FAFC"/>
                </a:solidFill>
                <a:latin typeface="Montserrat"/>
              </a:rPr>
              <a:t>of Software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1">
                <a:solidFill>
                  <a:srgbClr val="CBD5E1"/>
                </a:solidFill>
                <a:latin typeface="Inter"/>
              </a:rPr>
              <a:t>A Cloud-Hosted Agentic AI Solution for Study of</a:t>
            </a:r>
          </a:p>
          <a:p>
            <a:pPr algn="l">
              <a:lnSpc>
                <a:spcPct val="120000"/>
              </a:lnSpc>
            </a:pPr>
            <a:r>
              <a:rPr sz="1900" b="0" i="1">
                <a:solidFill>
                  <a:srgbClr val="CBD5E1"/>
                </a:solidFill>
                <a:latin typeface="Inter"/>
              </a:rPr>
              <a:t>Requirement Traceability in Production-Grade Codebases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80560"/>
            <a:ext cx="2926080" cy="5715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60000">
                <a:srgbClr val="6366F1"/>
              </a:gs>
              <a:gs pos="100000">
                <a:srgbClr val="A78BFA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10193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22D3EE"/>
                </a:solidFill>
                <a:latin typeface="Montserrat"/>
              </a:rPr>
              <a:t>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Montserrat"/>
              </a:rPr>
              <a:t>Aarya Nanndaann Singh M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JetBrains Mono"/>
              </a:rPr>
              <a:t>BITS ID  ·  2024MT03013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064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JetBrains Mono"/>
              </a:rPr>
              <a:t>2024mt03013@wilp.bits-pilani.ac.in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754880"/>
            <a:ext cx="5029200" cy="1554480"/>
          </a:xfrm>
          <a:prstGeom prst="roundRect">
            <a:avLst>
              <a:gd name="adj" fmla="val 8000"/>
            </a:avLst>
          </a:prstGeom>
          <a:solidFill>
            <a:srgbClr val="10193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8920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A78BFA"/>
                </a:solidFill>
                <a:latin typeface="Montserrat"/>
              </a:rPr>
              <a:t>SUPERVISOR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1663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Montserrat"/>
              </a:rPr>
              <a:t>Hanumanthu Indrakanti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50468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Aqueralabs India Pvt Ltd, Bangalore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8064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JetBrains Mono"/>
              </a:rPr>
              <a:t>BITS Pilani  ·  WILP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02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WHAT WE'LL COVER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7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2075687"/>
            <a:ext cx="19050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200253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3171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Semantic intent loss in modern codebases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7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Montserrat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075687"/>
            <a:ext cx="19050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200253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33171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What this dissertation aims to achieve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2607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06323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Montserrat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3127247"/>
            <a:ext cx="19050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0" y="305409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System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38327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5-layer agentic AI framework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92607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06323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Montserrat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3127247"/>
            <a:ext cx="19050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2360" y="305409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AWS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38327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Cloud topology with Lambdas + RAG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97763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11479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Montserrat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4178807"/>
            <a:ext cx="19050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28800" y="410565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Ingestion Pipelines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4348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How Jira &amp; GitHub artifacts flow 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97763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411479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Montserrat"/>
              </a:rPr>
              <a:t>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4178807"/>
            <a:ext cx="19050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52360" y="410565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Retrieval &amp; RAG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44348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Vector search over unified knowledge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02919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516635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Montserrat"/>
              </a:rPr>
              <a:t>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0" y="5230367"/>
            <a:ext cx="19050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28800" y="515721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Progress so far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48639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Completed · In progress · Pending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502919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5166359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Montserrat"/>
              </a:rPr>
              <a:t>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80" y="5230367"/>
            <a:ext cx="19050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52360" y="5157215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Plan of 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548639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Timeline, observations, challenges,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03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THE MODERN DEV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Software today lives across many places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BD5E1"/>
                </a:solidFill>
                <a:latin typeface="Inter"/>
              </a:rPr>
              <a:t>A single production feature is rarely written in one place. Its story is spread across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BD5E1"/>
                </a:solidFill>
                <a:latin typeface="Inter"/>
              </a:rPr>
              <a:t>issue trackers, code repositories, pull-request discussions, and internal docs.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2514600" cy="219456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251460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j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3154680"/>
            <a:ext cx="822960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40690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F8FAFC"/>
                </a:solidFill>
                <a:latin typeface="Montserrat"/>
              </a:rPr>
              <a:t>Jira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Requirements &amp;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bug tickets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834640"/>
            <a:ext cx="2514600" cy="219456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3280" y="2834640"/>
            <a:ext cx="251460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onfl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3154680"/>
            <a:ext cx="822960" cy="822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83280" y="40690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F8FAFC"/>
                </a:solidFill>
                <a:latin typeface="Montserrat"/>
              </a:rPr>
              <a:t>Confluence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4348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Design &amp;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documentation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834640"/>
            <a:ext cx="2514600" cy="219456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2834640"/>
            <a:ext cx="251460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3154680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26480" y="40690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F8FAFC"/>
                </a:solidFill>
                <a:latin typeface="Montserrat"/>
              </a:rPr>
              <a:t>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348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Commits, PRs,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issues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2834640"/>
            <a:ext cx="2514600" cy="219456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69680" y="2834640"/>
            <a:ext cx="251460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vs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3154680"/>
            <a:ext cx="822960" cy="8229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69680" y="40690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F8FAFC"/>
                </a:solidFill>
                <a:latin typeface="Montserrat"/>
              </a:rPr>
              <a:t>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4348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Where developers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actually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578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4A3B8"/>
                </a:solidFill>
                <a:latin typeface="Inter"/>
              </a:rPr>
              <a:t>Each artifact captures a different slice of truth. None of them alone explains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4A3B8"/>
                </a:solidFill>
                <a:latin typeface="Inter"/>
              </a:rPr>
              <a:t>why a particular line of code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04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THE WHAT-VS-WHY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Semantic Intent 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303520" cy="201168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47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Montserrat"/>
              </a:rPr>
              <a:t>SOURCE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5856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Montserrat"/>
              </a:rPr>
              <a:t>What the system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1"/>
                </a:solidFill>
                <a:latin typeface="Inter"/>
              </a:rPr>
              <a:t>Precise, executable, versioned.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1"/>
                </a:solidFill>
                <a:latin typeface="Inter"/>
              </a:rPr>
              <a:t>Describes behaviour line-by-line.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1"/>
                </a:solidFill>
                <a:latin typeface="Inter"/>
              </a:rPr>
              <a:t>Easy to run — hard to interpret.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5303520" cy="2011680"/>
          </a:xfrm>
          <a:prstGeom prst="roundRect">
            <a:avLst>
              <a:gd name="adj" fmla="val 10000"/>
            </a:avLst>
          </a:prstGeom>
          <a:solidFill>
            <a:srgbClr val="1A1644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9476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A78BFA"/>
                </a:solidFill>
                <a:latin typeface="Montserrat"/>
              </a:rPr>
              <a:t>DEVELOPER 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5856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8FAFC"/>
                </a:solidFill>
                <a:latin typeface="Montserrat"/>
              </a:rPr>
              <a:t>Why it was written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1"/>
                </a:solidFill>
                <a:latin typeface="Inter"/>
              </a:rPr>
              <a:t>Scattered across tickets, PRs, chats,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1"/>
                </a:solidFill>
                <a:latin typeface="Inter"/>
              </a:rPr>
              <a:t>commit messages — and often in people's heads.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BD5E1"/>
                </a:solidFill>
                <a:latin typeface="Inter"/>
              </a:rPr>
              <a:t>Fragments faster than the code.</a:t>
            </a:r>
          </a:p>
        </p:txBody>
      </p:sp>
      <p:sp>
        <p:nvSpPr>
          <p:cNvPr id="18" name="Left-Right Arrow 17"/>
          <p:cNvSpPr/>
          <p:nvPr/>
        </p:nvSpPr>
        <p:spPr>
          <a:xfrm>
            <a:off x="5527766" y="2560320"/>
            <a:ext cx="1003663" cy="274320"/>
          </a:xfrm>
          <a:prstGeom prst="left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440680" y="2902132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spc="300" dirty="0">
                <a:solidFill>
                  <a:srgbClr val="FBBF24"/>
                </a:solidFill>
                <a:latin typeface="Montserrat"/>
              </a:rPr>
              <a:t>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1097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F8FAFC"/>
                </a:solidFill>
                <a:latin typeface="Montserrat"/>
              </a:rPr>
              <a:t>Over time the connection between the two </a:t>
            </a:r>
            <a:r>
              <a:rPr lang="en-IN" sz="1600" b="1" dirty="0">
                <a:solidFill>
                  <a:srgbClr val="F8FAFC"/>
                </a:solidFill>
                <a:latin typeface="Montserrat"/>
              </a:rPr>
              <a:t>erodes</a:t>
            </a:r>
            <a:r>
              <a:rPr sz="1600" b="1" i="0" dirty="0">
                <a:solidFill>
                  <a:srgbClr val="F8FAFC"/>
                </a:solidFill>
                <a:latin typeface="Montserrat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CBD5E1"/>
                </a:solidFill>
                <a:latin typeface="Inter"/>
              </a:rPr>
              <a:t>New engineers inherit the code but not the reasoning.  Bugs get fixed without</a:t>
            </a:r>
          </a:p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CBD5E1"/>
                </a:solidFill>
                <a:latin typeface="Inter"/>
              </a:rPr>
              <a:t>anyone remembering why the broken behaviour ever existed.  Requirement-to-code</a:t>
            </a:r>
          </a:p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CBD5E1"/>
                </a:solidFill>
                <a:latin typeface="Inter"/>
              </a:rPr>
              <a:t>traceability quietly disappears.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05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IMPACT OF INTENT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Why this matters in the real world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394960" cy="182880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103120"/>
            <a:ext cx="960120" cy="118872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9601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 i="0">
                <a:solidFill>
                  <a:srgbClr val="0B1026"/>
                </a:solidFill>
                <a:latin typeface="Montserrat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05740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Montserrat"/>
              </a:rPr>
              <a:t>Slow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514600"/>
            <a:ext cx="3749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New engineers spend weeks hopping between Jira, GitHub,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and docs to piece together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5394960" cy="182880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37960" y="2103120"/>
            <a:ext cx="960120" cy="118872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9601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 i="0">
                <a:solidFill>
                  <a:srgbClr val="0B1026"/>
                </a:solidFill>
                <a:latin typeface="Montserrat"/>
              </a:rPr>
              <a:t>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05740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Montserrat"/>
              </a:rPr>
              <a:t>Harder debugging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514600"/>
            <a:ext cx="3749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Fixing a regression requires guessing why the original code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was structured the way it 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5394960" cy="182880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114800"/>
            <a:ext cx="960120" cy="118872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9601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 i="0">
                <a:solidFill>
                  <a:srgbClr val="0B1026"/>
                </a:solidFill>
                <a:latin typeface="Montserrat"/>
              </a:rP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06908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Montserrat"/>
              </a:rPr>
              <a:t>Risky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526280"/>
            <a:ext cx="3749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Legacy modules are rewritten or removed blindly, because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the rationale behind them is lost.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794760"/>
            <a:ext cx="5394960" cy="182880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37960" y="4114800"/>
            <a:ext cx="960120" cy="118872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4206240"/>
            <a:ext cx="9601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0" i="0">
                <a:solidFill>
                  <a:srgbClr val="0B1026"/>
                </a:solidFill>
                <a:latin typeface="Montserrat"/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06908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F8FAFC"/>
                </a:solidFill>
                <a:latin typeface="Montserrat"/>
              </a:rPr>
              <a:t>OSS friction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526280"/>
            <a:ext cx="3749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External contributors can't see institutional knowledge and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bounce off unfamiliar codebases.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  <a:latin typeface="Inter"/>
              </a:rPr>
              <a:t>In short: today the code shows what — but not why. This dissertation targets exactly that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06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THE FORMAL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Problem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10698480" cy="123444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214884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B1026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0116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Montserrat"/>
              </a:rPr>
              <a:t>Fragmented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95728"/>
            <a:ext cx="9418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Software knowledge is scattered across JIRA, GitHub, PR discussions and docs with no unified semantic representation, making it hard to reason across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10698480" cy="123444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20" y="3566160"/>
            <a:ext cx="594360" cy="5943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566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B1026"/>
                </a:solidFill>
                <a:latin typeface="Montserrat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429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Montserrat"/>
              </a:rPr>
              <a:t>Missing traceability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813048"/>
            <a:ext cx="9418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Explicit, reliable mappings between natural-language requirements and the specific code changes that implement them are rarely maintained.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698480" cy="123444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0120" y="4983480"/>
            <a:ext cx="594360" cy="5943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9834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B1026"/>
                </a:solidFill>
                <a:latin typeface="Montserra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84632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Montserrat"/>
              </a:rPr>
              <a:t>Cognitive overhead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230368"/>
            <a:ext cx="9418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Developers end up manually navigating multiple tools to reconstruct context — slowing onboarding, debugging, and safe maintenance.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22D3EE"/>
                </a:solidFill>
                <a:latin typeface="Montserrat"/>
              </a:rPr>
              <a:t>We need an intelligent, scalable system that bridges requirements ↔ code and makes intent discoverable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176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07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WHAT WE SET OUT TO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Dissertation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394960" cy="114300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1A2455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2D3EE"/>
                </a:solidFill>
                <a:latin typeface="Montserrat"/>
              </a:rPr>
              <a:t>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8745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Study intent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22199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Analyze how rationale fragments across tickets, commits, PRs.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91640"/>
            <a:ext cx="5394960" cy="114300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1A2455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2D3EE"/>
                </a:solidFill>
                <a:latin typeface="Montserrat"/>
              </a:rP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8745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Reconstruct traceability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22199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Link natural-language requirements to concrete code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99232"/>
            <a:ext cx="5394960" cy="114300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3273552"/>
            <a:ext cx="594360" cy="594360"/>
          </a:xfrm>
          <a:prstGeom prst="ellipse">
            <a:avLst/>
          </a:prstGeom>
          <a:solidFill>
            <a:srgbClr val="1A2455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27355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2D3EE"/>
                </a:solidFill>
                <a:latin typeface="Montserrat"/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18211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Cloud-hosted agentic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529584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Multi-agent LLM system that reasons over software artifacts.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999232"/>
            <a:ext cx="5394960" cy="114300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92240" y="3273552"/>
            <a:ext cx="594360" cy="594360"/>
          </a:xfrm>
          <a:prstGeom prst="ellipse">
            <a:avLst/>
          </a:prstGeom>
          <a:solidFill>
            <a:srgbClr val="1A2455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273552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2D3EE"/>
                </a:solidFill>
                <a:latin typeface="Montserrat"/>
              </a:rPr>
              <a:t>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18211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IDE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529584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Deliver context-aware help right inside the developer's editor.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06824"/>
            <a:ext cx="5394960" cy="114300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68680" y="4581144"/>
            <a:ext cx="594360" cy="594360"/>
          </a:xfrm>
          <a:prstGeom prst="ellipse">
            <a:avLst/>
          </a:prstGeom>
          <a:solidFill>
            <a:srgbClr val="1A2455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581144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2D3EE"/>
                </a:solidFill>
                <a:latin typeface="Montserrat"/>
              </a:rPr>
              <a:t>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48970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Automated workflows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83717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Map Jira → commits → code and explain each step.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306824"/>
            <a:ext cx="5394960" cy="114300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92240" y="4581144"/>
            <a:ext cx="594360" cy="594360"/>
          </a:xfrm>
          <a:prstGeom prst="ellipse">
            <a:avLst/>
          </a:prstGeom>
          <a:solidFill>
            <a:srgbClr val="1A2455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4581144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22D3EE"/>
                </a:solidFill>
                <a:latin typeface="Montserrat"/>
              </a:rPr>
              <a:t>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48970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Issue reproduction &amp;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83717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Help recreate problems and verify that fixes actually resolve them.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98520" y="5624427"/>
            <a:ext cx="5394960" cy="778111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611880" y="5649250"/>
            <a:ext cx="594360" cy="594360"/>
          </a:xfrm>
          <a:prstGeom prst="ellipse">
            <a:avLst/>
          </a:prstGeom>
          <a:solidFill>
            <a:srgbClr val="1A2455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11880" y="57036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 dirty="0">
                <a:solidFill>
                  <a:srgbClr val="22D3EE"/>
                </a:solidFill>
                <a:latin typeface="Montserrat"/>
              </a:rPr>
              <a:t>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79729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F8FAFC"/>
                </a:solidFill>
                <a:latin typeface="Montserrat"/>
              </a:rPr>
              <a:t>Measure the lift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6025023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CBD5E1"/>
                </a:solidFill>
                <a:latin typeface="Inter"/>
              </a:rPr>
              <a:t>Evaluate reductions in cognitive load, onboarding time, and triage effort.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08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ONE-LINE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IntentEra  —  The Proposed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BD5E1"/>
                </a:solidFill>
                <a:latin typeface="Inter"/>
              </a:rPr>
              <a:t>A cloud-hosted agentic AI platform that ingests software artifacts, semantically indexes them, and answers "why does this code exist?" directly in the 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10881360" cy="566928"/>
          </a:xfrm>
          <a:prstGeom prst="roundRect">
            <a:avLst>
              <a:gd name="adj" fmla="val 2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2916936"/>
            <a:ext cx="502920" cy="402336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916936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026"/>
                </a:solidFill>
                <a:latin typeface="Montserrat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4436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Artifact Ingestion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962656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Jira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68112" y="296265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Confluence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22592" y="2962656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GitHub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11296"/>
            <a:ext cx="10881360" cy="566928"/>
          </a:xfrm>
          <a:prstGeom prst="roundRect">
            <a:avLst>
              <a:gd name="adj" fmla="val 2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7240" y="3593592"/>
            <a:ext cx="502920" cy="402336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93592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026"/>
                </a:solidFill>
                <a:latin typeface="Montserrat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2102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Knowledge Extraction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639312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Normalize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6752" y="363931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Chunk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22592" y="363931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Embed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87952"/>
            <a:ext cx="10881360" cy="566928"/>
          </a:xfrm>
          <a:prstGeom prst="roundRect">
            <a:avLst>
              <a:gd name="adj" fmla="val 2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" y="4270248"/>
            <a:ext cx="502920" cy="402336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270248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026"/>
                </a:solidFill>
                <a:latin typeface="Montserrat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2976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Semantic Reasoning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4315968"/>
            <a:ext cx="1792224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Vector search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55664" y="4315968"/>
            <a:ext cx="1901952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Cross-artifact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49056" y="4315968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LLM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64608"/>
            <a:ext cx="10881360" cy="566928"/>
          </a:xfrm>
          <a:prstGeom prst="roundRect">
            <a:avLst>
              <a:gd name="adj" fmla="val 2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77240" y="4946904"/>
            <a:ext cx="502920" cy="402336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4946904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026"/>
                </a:solidFill>
                <a:latin typeface="Montserrat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97433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Agent Orchestration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4992624"/>
            <a:ext cx="1682495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Traceability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45935" y="4992624"/>
            <a:ext cx="1572767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Code-Intent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2" y="4992624"/>
            <a:ext cx="1682495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Reproduction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77" y="4992624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Validation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541264"/>
            <a:ext cx="10881360" cy="566928"/>
          </a:xfrm>
          <a:prstGeom prst="roundRect">
            <a:avLst>
              <a:gd name="adj" fmla="val 2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77240" y="5623560"/>
            <a:ext cx="502920" cy="402336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562356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026"/>
                </a:solidFill>
                <a:latin typeface="Montserrat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56509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IDE Integration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5669280"/>
            <a:ext cx="1901952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Inline context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65392" y="56692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Explainers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19872" y="5669280"/>
            <a:ext cx="1572767" cy="292608"/>
          </a:xfrm>
          <a:prstGeom prst="roundRect">
            <a:avLst>
              <a:gd name="adj" fmla="val 50000"/>
            </a:avLst>
          </a:prstGeom>
          <a:solidFill>
            <a:srgbClr val="1E2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CBD5E1"/>
                </a:solidFill>
                <a:latin typeface="Montserrat"/>
              </a:rPr>
              <a:t>Trace links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09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FIVE COOPERATING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High-Level 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6217920" cy="7772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109728" cy="77724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22D3EE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85623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Artifact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85623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Jira · Confluence · GitHub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51760"/>
            <a:ext cx="6217920" cy="7772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651760"/>
            <a:ext cx="109728" cy="777240"/>
          </a:xfrm>
          <a:prstGeom prst="rect">
            <a:avLst/>
          </a:prstGeom>
          <a:gradFill flip="none" rotWithShape="1">
            <a:gsLst>
              <a:gs pos="0">
                <a:srgbClr val="2DD4BF"/>
              </a:gs>
              <a:gs pos="100000">
                <a:srgbClr val="22D3EE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7249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Knowledge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72491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Normalize · Chunk · Embed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6217920" cy="7772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20440"/>
            <a:ext cx="109728" cy="777240"/>
          </a:xfrm>
          <a:prstGeom prst="rect">
            <a:avLst/>
          </a:prstGeom>
          <a:gradFill flip="none" rotWithShape="1">
            <a:gsLst>
              <a:gs pos="0">
                <a:srgbClr val="6366F1"/>
              </a:gs>
              <a:gs pos="100000">
                <a:srgbClr val="22D3EE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59359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Semantic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59359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Vector search · LLM inference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89120"/>
            <a:ext cx="6217920" cy="7772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389120"/>
            <a:ext cx="109728" cy="777240"/>
          </a:xfrm>
          <a:prstGeom prst="rect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22D3EE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4622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Agent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46227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Multi-agent coordination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57800"/>
            <a:ext cx="6217920" cy="7772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5257800"/>
            <a:ext cx="109728" cy="777240"/>
          </a:xfrm>
          <a:prstGeom prst="rect">
            <a:avLst/>
          </a:prstGeom>
          <a:gradFill flip="none" rotWithShape="1">
            <a:gsLst>
              <a:gs pos="0">
                <a:srgbClr val="FBBF24"/>
              </a:gs>
              <a:gs pos="100000">
                <a:srgbClr val="22D3EE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33095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IDE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33095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Developer experience surface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9480" y="1783080"/>
            <a:ext cx="4434840" cy="4709160"/>
          </a:xfrm>
          <a:prstGeom prst="roundRect">
            <a:avLst>
              <a:gd name="adj" fmla="val 6000"/>
            </a:avLst>
          </a:prstGeom>
          <a:solidFill>
            <a:srgbClr val="131D44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0" y="1947672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A78BFA"/>
                </a:solidFill>
                <a:latin typeface="Montserrat"/>
              </a:rPr>
              <a:t>HOW A QUESTION FLOWS</a:t>
            </a:r>
          </a:p>
        </p:txBody>
      </p:sp>
      <p:sp>
        <p:nvSpPr>
          <p:cNvPr id="32" name="Oval 31"/>
          <p:cNvSpPr/>
          <p:nvPr/>
        </p:nvSpPr>
        <p:spPr>
          <a:xfrm>
            <a:off x="7543800" y="2532888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43800" y="253288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026"/>
                </a:solidFill>
                <a:latin typeface="Montserrat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42316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Montserrat"/>
              </a:rPr>
              <a:t>Developer asks in 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2679192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"Why was this retry logic added?"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55356" y="2788920"/>
            <a:ext cx="9525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543800" y="3310128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43800" y="331012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026"/>
                </a:solidFill>
                <a:latin typeface="Montserrat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20040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Montserrat"/>
              </a:rPr>
              <a:t>Agent receives query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3456432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Routes to Code-Intent + Traceability agents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55356" y="3566160"/>
            <a:ext cx="9525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543800" y="4087368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43800" y="408736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026"/>
                </a:solidFill>
                <a:latin typeface="Montserrat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397764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Montserrat"/>
              </a:rPr>
              <a:t>Retrieval over vector 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233672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Pulls related Jira tickets, PRs, commits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55356" y="4343400"/>
            <a:ext cx="9525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543800" y="4864608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43800" y="486460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026"/>
                </a:solidFill>
                <a:latin typeface="Montserrat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475488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Montserrat"/>
              </a:rPr>
              <a:t>LLM synthesises answer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5010912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Merges facts into a human explanation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55356" y="5120640"/>
            <a:ext cx="9525" cy="502920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543800" y="5641848"/>
            <a:ext cx="228600" cy="228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43800" y="564184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B1026"/>
                </a:solidFill>
                <a:latin typeface="Montserrat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55321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Montserrat"/>
              </a:rPr>
              <a:t>Answer appears inline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5788152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With links back to original artifacts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10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WHERE EACH PIECE ACTUALLY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AWS Deployment Topology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CBD5E1"/>
                </a:solidFill>
                <a:latin typeface="Inter"/>
              </a:rPr>
              <a:t>EventBridge wakes the ingest Lambda on a schedule · API Gateway fronts retrieval · both Lambdas sit inside a VPC and exit through a NAT Gateway.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7400"/>
            <a:ext cx="1554480" cy="114300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057400"/>
            <a:ext cx="15544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Event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221992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" y="27797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EventBridge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5409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cron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29000"/>
            <a:ext cx="1554480" cy="114300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429000"/>
            <a:ext cx="15544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PI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593592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" y="41513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API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2569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HTTP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00600"/>
            <a:ext cx="1554480" cy="114300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4800600"/>
            <a:ext cx="1554480" cy="38100"/>
          </a:xfrm>
          <a:prstGeom prst="rect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ecretsMana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965192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" y="55229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Secrets Mgr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9729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credentials 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4600" y="1920240"/>
            <a:ext cx="4754880" cy="4480560"/>
          </a:xfrm>
          <a:prstGeom prst="roundRect">
            <a:avLst>
              <a:gd name="adj" fmla="val 4000"/>
            </a:avLst>
          </a:prstGeom>
          <a:solidFill>
            <a:srgbClr val="141F4C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697480" y="1755648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0B1026"/>
                </a:solidFill>
                <a:latin typeface="Montserrat"/>
              </a:rPr>
              <a:t>VPC (private)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17922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JetBrains Mono"/>
              </a:rPr>
              <a:t>egress via NAT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2331720"/>
            <a:ext cx="1828800" cy="12344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834640" y="2331720"/>
            <a:ext cx="182880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Lamb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580" y="2496312"/>
            <a:ext cx="502920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926080" y="305409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Ingest Lambda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32841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handler/ingest.js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2331720"/>
            <a:ext cx="1920240" cy="12344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983480" y="2331720"/>
            <a:ext cx="1920240" cy="38100"/>
          </a:xfrm>
          <a:prstGeom prst="rect">
            <a:avLst/>
          </a:prstGeom>
          <a:gradFill flip="none" rotWithShape="1">
            <a:gsLst>
              <a:gs pos="0">
                <a:srgbClr val="2DD4BF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Lamb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140" y="2496312"/>
            <a:ext cx="502920" cy="5029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74920" y="305409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Retrieve Lambda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32841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handler/retrieve.js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86200" y="3840480"/>
            <a:ext cx="1828800" cy="12344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86200" y="3840480"/>
            <a:ext cx="1828800" cy="38100"/>
          </a:xfrm>
          <a:prstGeom prst="rect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NATGatew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9140" y="4005072"/>
            <a:ext cx="502920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977640" y="456285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NAT Gateway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40" y="483717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elastic IP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5303520"/>
            <a:ext cx="2926080" cy="8686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337560" y="5303520"/>
            <a:ext cx="2926080" cy="38100"/>
          </a:xfrm>
          <a:prstGeom prst="rect">
            <a:avLst/>
          </a:prstGeom>
          <a:gradFill flip="none" rotWithShape="1">
            <a:gsLst>
              <a:gs pos="0">
                <a:srgbClr val="FBBF24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CloudWat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140" y="5468112"/>
            <a:ext cx="502920" cy="5029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429000" y="602589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CloudWatch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630021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logs + metrics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80960" y="192024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680960" y="1920240"/>
            <a:ext cx="1828800" cy="38100"/>
          </a:xfrm>
          <a:prstGeom prst="rect">
            <a:avLst/>
          </a:prstGeom>
          <a:gradFill flip="none" rotWithShape="1">
            <a:gsLst>
              <a:gs pos="0">
                <a:srgbClr val="34D399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mongod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084832"/>
            <a:ext cx="502920" cy="5029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772400" y="26426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MongoDB Atlas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29169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vector search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46920" y="192024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646920" y="1920240"/>
            <a:ext cx="1828800" cy="38100"/>
          </a:xfrm>
          <a:prstGeom prst="rect">
            <a:avLst/>
          </a:prstGeom>
          <a:gradFill flip="none" rotWithShape="1">
            <a:gsLst>
              <a:gs pos="0">
                <a:srgbClr val="F87171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redi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9860" y="2084832"/>
            <a:ext cx="502920" cy="5029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738360" y="26426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Redis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38360" y="29169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state + lock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80960" y="329184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680960" y="3291840"/>
            <a:ext cx="1828800" cy="38100"/>
          </a:xfrm>
          <a:prstGeom prst="rect">
            <a:avLst/>
          </a:prstGeom>
          <a:gradFill flip="none" rotWithShape="1">
            <a:gsLst>
              <a:gs pos="0">
                <a:srgbClr val="2DD4BF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opena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3900" y="3456432"/>
            <a:ext cx="502920" cy="50292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772400" y="40142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OpenAI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42885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embeddings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46920" y="329184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646920" y="3291840"/>
            <a:ext cx="1828800" cy="38100"/>
          </a:xfrm>
          <a:prstGeom prst="rect">
            <a:avLst/>
          </a:prstGeom>
          <a:gradFill flip="none" rotWithShape="1">
            <a:gsLst>
              <a:gs pos="0">
                <a:srgbClr val="6366F1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jir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09860" y="3456432"/>
            <a:ext cx="502920" cy="50292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738360" y="40142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Jira / Conf.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38360" y="42885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REST APIs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41080" y="466344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641080" y="4663440"/>
            <a:ext cx="1828800" cy="38100"/>
          </a:xfrm>
          <a:prstGeom prst="rect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githu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4020" y="4828032"/>
            <a:ext cx="502920" cy="5029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732520" y="53858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GitHub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32520" y="56601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REST + GraphQL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057400" y="2628900"/>
            <a:ext cx="777240" cy="320040"/>
          </a:xfrm>
          <a:prstGeom prst="line">
            <a:avLst/>
          </a:prstGeom>
          <a:ln w="22225">
            <a:solidFill>
              <a:srgbClr val="22D3E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057400" y="2948940"/>
            <a:ext cx="2926080" cy="1051560"/>
          </a:xfrm>
          <a:prstGeom prst="line">
            <a:avLst/>
          </a:prstGeom>
          <a:ln w="22225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cxnSpLocks/>
          </p:cNvCxnSpPr>
          <p:nvPr/>
        </p:nvCxnSpPr>
        <p:spPr>
          <a:xfrm flipV="1">
            <a:off x="2057400" y="3584448"/>
            <a:ext cx="1371600" cy="1787652"/>
          </a:xfrm>
          <a:prstGeom prst="line">
            <a:avLst/>
          </a:prstGeom>
          <a:ln w="22225">
            <a:solidFill>
              <a:srgbClr val="A78BF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cxnSpLocks/>
          </p:cNvCxnSpPr>
          <p:nvPr/>
        </p:nvCxnSpPr>
        <p:spPr>
          <a:xfrm flipV="1">
            <a:off x="2057400" y="3172968"/>
            <a:ext cx="2926080" cy="2199132"/>
          </a:xfrm>
          <a:prstGeom prst="line">
            <a:avLst/>
          </a:prstGeom>
          <a:ln w="22225">
            <a:solidFill>
              <a:srgbClr val="A78BF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cxnSpLocks/>
          </p:cNvCxnSpPr>
          <p:nvPr/>
        </p:nvCxnSpPr>
        <p:spPr>
          <a:xfrm>
            <a:off x="4617720" y="3566160"/>
            <a:ext cx="182880" cy="274320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>
            <a:cxnSpLocks/>
          </p:cNvCxnSpPr>
          <p:nvPr/>
        </p:nvCxnSpPr>
        <p:spPr>
          <a:xfrm flipH="1">
            <a:off x="4800600" y="3557016"/>
            <a:ext cx="240030" cy="283464"/>
          </a:xfrm>
          <a:prstGeom prst="line">
            <a:avLst/>
          </a:prstGeom>
          <a:ln w="22225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715000" y="2491740"/>
            <a:ext cx="1965960" cy="1965960"/>
          </a:xfrm>
          <a:prstGeom prst="line">
            <a:avLst/>
          </a:prstGeom>
          <a:ln w="2222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715000" y="2491740"/>
            <a:ext cx="3931920" cy="1965960"/>
          </a:xfrm>
          <a:prstGeom prst="line">
            <a:avLst/>
          </a:prstGeom>
          <a:ln w="22225">
            <a:solidFill>
              <a:srgbClr val="F871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715000" y="3863340"/>
            <a:ext cx="1965960" cy="594360"/>
          </a:xfrm>
          <a:prstGeom prst="line">
            <a:avLst/>
          </a:prstGeom>
          <a:ln w="22225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715000" y="3863340"/>
            <a:ext cx="3931920" cy="594360"/>
          </a:xfrm>
          <a:prstGeom prst="line">
            <a:avLst/>
          </a:prstGeom>
          <a:ln w="22225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715000" y="4457700"/>
            <a:ext cx="2926080" cy="777240"/>
          </a:xfrm>
          <a:prstGeom prst="line">
            <a:avLst/>
          </a:prstGeom>
          <a:ln w="2222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>
            <a:cxnSpLocks/>
          </p:cNvCxnSpPr>
          <p:nvPr/>
        </p:nvCxnSpPr>
        <p:spPr>
          <a:xfrm>
            <a:off x="4103370" y="3584448"/>
            <a:ext cx="0" cy="1737170"/>
          </a:xfrm>
          <a:prstGeom prst="line">
            <a:avLst/>
          </a:prstGeom>
          <a:ln w="22225">
            <a:solidFill>
              <a:srgbClr val="FBBF2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>
            <a:cxnSpLocks/>
          </p:cNvCxnSpPr>
          <p:nvPr/>
        </p:nvCxnSpPr>
        <p:spPr>
          <a:xfrm>
            <a:off x="5516803" y="3593592"/>
            <a:ext cx="15317" cy="1723645"/>
          </a:xfrm>
          <a:prstGeom prst="line">
            <a:avLst/>
          </a:prstGeom>
          <a:ln w="22225">
            <a:solidFill>
              <a:srgbClr val="FBBF2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11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FROM TICKET TO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F8FAFC"/>
                </a:solidFill>
                <a:latin typeface="Montserrat"/>
              </a:rPr>
              <a:t>Jira Ingestion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8027" y="2468880"/>
            <a:ext cx="1691640" cy="141732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78027" y="2229612"/>
            <a:ext cx="169164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ji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387" y="2633472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9467" y="319125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8FAFC"/>
                </a:solidFill>
                <a:latin typeface="Montserrat"/>
              </a:rPr>
              <a:t>Jira / Confluence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467" y="346557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dirty="0">
                <a:solidFill>
                  <a:srgbClr val="94A3B8"/>
                </a:solidFill>
                <a:latin typeface="JetBrains Mono"/>
              </a:rPr>
              <a:t>issues · comments</a:t>
            </a:r>
          </a:p>
          <a:p>
            <a:pPr algn="ctr"/>
            <a:r>
              <a:rPr sz="900" b="0" i="0" dirty="0">
                <a:solidFill>
                  <a:srgbClr val="94A3B8"/>
                </a:solidFill>
                <a:latin typeface="JetBrains Mono"/>
              </a:rPr>
              <a:t>attachments · pages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6827" y="2468880"/>
            <a:ext cx="1691640" cy="141732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06827" y="2468880"/>
            <a:ext cx="169164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amb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187" y="2633472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98267" y="319125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Ingest Lambda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8267" y="346557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handler/ingest.js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69667" y="3177540"/>
            <a:ext cx="137160" cy="0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35627" y="2468880"/>
            <a:ext cx="1691640" cy="141732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35627" y="2468880"/>
            <a:ext cx="169164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node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987" y="2633472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427067" y="319125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Normalizer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7067" y="346557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unified ticket shape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98467" y="3177540"/>
            <a:ext cx="137160" cy="0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64427" y="2468880"/>
            <a:ext cx="1691640" cy="141732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64427" y="2468880"/>
            <a:ext cx="169164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node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787" y="2633472"/>
            <a:ext cx="50292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55867" y="319125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Semantic Chunker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5867" y="346557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structure-aware split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27267" y="3177540"/>
            <a:ext cx="137160" cy="0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993227" y="2468880"/>
            <a:ext cx="1691640" cy="141732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93227" y="2468880"/>
            <a:ext cx="169164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open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7587" y="2633472"/>
            <a:ext cx="502920" cy="502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084667" y="319125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Embedder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4667" y="346557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text-embedding-3-small</a:t>
            </a:r>
          </a:p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1536 dims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56067" y="3177540"/>
            <a:ext cx="137160" cy="0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822027" y="2468880"/>
            <a:ext cx="1691640" cy="141732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822027" y="2468880"/>
            <a:ext cx="169164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mongo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6387" y="2633472"/>
            <a:ext cx="502920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913467" y="319125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MongoDB Atlas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13467" y="346557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rag_chunks</a:t>
            </a:r>
          </a:p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vector_index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684867" y="3177540"/>
            <a:ext cx="137160" cy="0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754880" y="457200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754880" y="4572000"/>
            <a:ext cx="1828800" cy="38100"/>
          </a:xfrm>
          <a:prstGeom prst="rect">
            <a:avLst/>
          </a:prstGeom>
          <a:gradFill flip="none" rotWithShape="1">
            <a:gsLst>
              <a:gs pos="0">
                <a:srgbClr val="F87171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redi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7820" y="4736592"/>
            <a:ext cx="502920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846320" y="529437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Redis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556869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state + lock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352647" y="3886200"/>
            <a:ext cx="2316633" cy="685800"/>
          </a:xfrm>
          <a:prstGeom prst="line">
            <a:avLst/>
          </a:prstGeom>
          <a:ln w="22225">
            <a:solidFill>
              <a:srgbClr val="F8717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88003" y="402793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  <a:latin typeface="JetBrains Mono"/>
              </a:rPr>
              <a:t>checkpoint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5989320"/>
            <a:ext cx="3794760" cy="502920"/>
          </a:xfrm>
          <a:prstGeom prst="roundRect">
            <a:avLst>
              <a:gd name="adj" fmla="val 22000"/>
            </a:avLst>
          </a:prstGeom>
          <a:solidFill>
            <a:srgbClr val="131D44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5800" y="6044184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22D3EE"/>
                </a:solidFill>
                <a:latin typeface="Montserrat"/>
              </a:rPr>
              <a:t>Per-ticket idempotency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245352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Inter"/>
              </a:rPr>
              <a:t>Each ticket is reprocessed as an atomic delete-then-insert.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34840" y="5989320"/>
            <a:ext cx="3794760" cy="502920"/>
          </a:xfrm>
          <a:prstGeom prst="roundRect">
            <a:avLst>
              <a:gd name="adj" fmla="val 22000"/>
            </a:avLst>
          </a:prstGeom>
          <a:solidFill>
            <a:srgbClr val="131D44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17720" y="6044184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Montserrat"/>
              </a:rPr>
              <a:t>Incremental lookback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17720" y="6245352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Inter"/>
              </a:rPr>
              <a:t>A 60-min window past the last checkpoint catches late updates.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66760" y="5989320"/>
            <a:ext cx="3794760" cy="502920"/>
          </a:xfrm>
          <a:prstGeom prst="roundRect">
            <a:avLst>
              <a:gd name="adj" fmla="val 22000"/>
            </a:avLst>
          </a:prstGeom>
          <a:solidFill>
            <a:srgbClr val="131D44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49640" y="6044184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Montserrat"/>
              </a:rPr>
              <a:t>Deterministic chunk IDs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9640" y="6245352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Inter"/>
              </a:rPr>
              <a:t>Re-running on the same content produces the same _id hashes.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12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THREE PARALLEL TRACKS INTO ONE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GitHub Ingestion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1828800" cy="12344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108960"/>
            <a:ext cx="1828800" cy="38100"/>
          </a:xfrm>
          <a:prstGeom prst="rect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3273552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383133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0565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REST + GraphQL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3108960"/>
            <a:ext cx="2194560" cy="12344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98280" y="31089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am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0" y="3273552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89720" y="383133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GitHub 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410565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orchestrator.js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87000" y="484632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287000" y="4846320"/>
            <a:ext cx="1691640" cy="38100"/>
          </a:xfrm>
          <a:prstGeom prst="rect">
            <a:avLst/>
          </a:prstGeom>
          <a:gradFill flip="none" rotWithShape="1">
            <a:gsLst>
              <a:gs pos="0">
                <a:srgbClr val="34D399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mongo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5010912"/>
            <a:ext cx="50292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78440" y="556869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MongoDB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584301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rag_chunks_github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1920240"/>
            <a:ext cx="2103120" cy="10058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834640" y="1920240"/>
            <a:ext cx="210312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node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740" y="2084832"/>
            <a:ext cx="502920" cy="502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26080" y="264261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Commit Fetcher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291693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per-branch, SHA dedupe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1920240"/>
            <a:ext cx="2103120" cy="10058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532120" y="1920240"/>
            <a:ext cx="210312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open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2084832"/>
            <a:ext cx="502920" cy="502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623560" y="264261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Chunk + Embed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291693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per-entity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2331720" y="2423160"/>
            <a:ext cx="502920" cy="1303020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937760" y="2423160"/>
            <a:ext cx="594360" cy="0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35240" y="2423160"/>
            <a:ext cx="1463040" cy="1303020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834640" y="3200400"/>
            <a:ext cx="2103120" cy="10058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834640" y="3200400"/>
            <a:ext cx="2103120" cy="38100"/>
          </a:xfrm>
          <a:prstGeom prst="rect">
            <a:avLst/>
          </a:prstGeom>
          <a:gradFill flip="none" rotWithShape="1">
            <a:gsLst>
              <a:gs pos="0">
                <a:srgbClr val="6366F1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node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740" y="3364992"/>
            <a:ext cx="502920" cy="5029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926080" y="392277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PR Fetcher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419709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body · reviews · comments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32120" y="3200400"/>
            <a:ext cx="2103120" cy="10058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532120" y="3200400"/>
            <a:ext cx="2103120" cy="38100"/>
          </a:xfrm>
          <a:prstGeom prst="rect">
            <a:avLst/>
          </a:prstGeom>
          <a:gradFill flip="none" rotWithShape="1">
            <a:gsLst>
              <a:gs pos="0">
                <a:srgbClr val="6366F1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open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364992"/>
            <a:ext cx="502920" cy="5029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623560" y="392277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Chunk + Embed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419709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per-entity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2331720" y="3703320"/>
            <a:ext cx="502920" cy="22860"/>
          </a:xfrm>
          <a:prstGeom prst="line">
            <a:avLst/>
          </a:prstGeom>
          <a:ln w="22225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7760" y="3703320"/>
            <a:ext cx="594360" cy="0"/>
          </a:xfrm>
          <a:prstGeom prst="line">
            <a:avLst/>
          </a:prstGeom>
          <a:ln w="22225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635240" y="3703320"/>
            <a:ext cx="1463040" cy="22860"/>
          </a:xfrm>
          <a:prstGeom prst="line">
            <a:avLst/>
          </a:prstGeom>
          <a:ln w="22225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834640" y="4480560"/>
            <a:ext cx="2103120" cy="10058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834640" y="4480560"/>
            <a:ext cx="2103120" cy="38100"/>
          </a:xfrm>
          <a:prstGeom prst="rect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nodej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740" y="4645152"/>
            <a:ext cx="502920" cy="5029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926080" y="52029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Issue Fetcher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547725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body · comments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32120" y="4480560"/>
            <a:ext cx="2103120" cy="100584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532120" y="4480560"/>
            <a:ext cx="2103120" cy="38100"/>
          </a:xfrm>
          <a:prstGeom prst="rect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open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4645152"/>
            <a:ext cx="502920" cy="5029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623560" y="52029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Chunk + Embed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60" y="547725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per-entity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331720" y="3726180"/>
            <a:ext cx="502920" cy="1257300"/>
          </a:xfrm>
          <a:prstGeom prst="line">
            <a:avLst/>
          </a:prstGeom>
          <a:ln w="2222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937760" y="4983480"/>
            <a:ext cx="594360" cy="0"/>
          </a:xfrm>
          <a:prstGeom prst="line">
            <a:avLst/>
          </a:prstGeom>
          <a:ln w="2222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7635240" y="3726180"/>
            <a:ext cx="1463040" cy="1257300"/>
          </a:xfrm>
          <a:prstGeom prst="line">
            <a:avLst/>
          </a:prstGeom>
          <a:ln w="2222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195560" y="4343400"/>
            <a:ext cx="937260" cy="502920"/>
          </a:xfrm>
          <a:prstGeom prst="line">
            <a:avLst/>
          </a:prstGeom>
          <a:ln w="2222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02920" y="5989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Inter"/>
              </a:rPr>
              <a:t>All three entity types land in a single GitHub collection with entityKey partitioning (commit:&lt;sha&gt;, pr:&lt;n&gt;, issue:&lt;n&gt;).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886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13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TURNING RAW ARTIFACTS INTO SEARCHABLE 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Chunking &amp; Embeddings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5120640" cy="4663440"/>
          </a:xfrm>
          <a:prstGeom prst="roundRect">
            <a:avLst>
              <a:gd name="adj" fmla="val 8000"/>
            </a:avLst>
          </a:prstGeom>
          <a:solidFill>
            <a:srgbClr val="131D44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Montserrat"/>
              </a:rPr>
              <a:t>FROM TEXT TO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1  ·  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700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Pull raw issues, commits, PRs, pages, attachments.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272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2  ·  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1985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Extract title, description, comments; drop markup; attach metadata.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7705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3  ·  Chunk semantically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9664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Split on natural boundaries — paragraphs, sections, comments.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26864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4  ·  Embed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1947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OpenAI text-embedding-3-small → 1536-dim vector per chunk.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7667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5  · 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692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CBD5E1"/>
                </a:solidFill>
                <a:latin typeface="Inter"/>
              </a:rPr>
              <a:t>Insert into MongoDB Atlas with a vector index (cosine similarity).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1783080"/>
            <a:ext cx="5806440" cy="4663440"/>
          </a:xfrm>
          <a:prstGeom prst="roundRect">
            <a:avLst>
              <a:gd name="adj" fmla="val 8000"/>
            </a:avLst>
          </a:prstGeom>
          <a:solidFill>
            <a:srgbClr val="131D44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1920240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A78BFA"/>
                </a:solidFill>
                <a:latin typeface="Montserrat"/>
              </a:rPr>
              <a:t>SEMANTIC CHUNKERS (PER SOURCE)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3317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JetBrains Mono"/>
              </a:rPr>
              <a:t>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3317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JetBrains Mono"/>
              </a:rPr>
              <a:t>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23317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JetBrains Mono"/>
              </a:rPr>
              <a:t>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670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Inter"/>
              </a:rPr>
              <a:t>Jira metadata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6700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key + summary + labels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2670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2D3EE"/>
                </a:solidFill>
                <a:latin typeface="JetBrains Mono"/>
              </a:rPr>
              <a:t>~200 tok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953512"/>
            <a:ext cx="5440680" cy="347472"/>
          </a:xfrm>
          <a:prstGeom prst="rect">
            <a:avLst/>
          </a:prstGeom>
          <a:solidFill>
            <a:srgbClr val="172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0760" y="30175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Inter"/>
              </a:rPr>
              <a:t>Jira description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0175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paragraph split + overlap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2D3EE"/>
                </a:solidFill>
                <a:latin typeface="JetBrains Mono"/>
              </a:rPr>
              <a:t>300–500 tok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3649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Inter"/>
              </a:rPr>
              <a:t>Jira comments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33649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group of N or single long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33649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2D3EE"/>
                </a:solidFill>
                <a:latin typeface="JetBrains Mono"/>
              </a:rPr>
              <a:t>200–400 tok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648456"/>
            <a:ext cx="5440680" cy="347472"/>
          </a:xfrm>
          <a:prstGeom prst="rect">
            <a:avLst/>
          </a:prstGeom>
          <a:solidFill>
            <a:srgbClr val="172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80760" y="37124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Inter"/>
              </a:rPr>
              <a:t>Confluence pages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7124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section-header aware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37124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2D3EE"/>
                </a:solidFill>
                <a:latin typeface="JetBrains Mono"/>
              </a:rPr>
              <a:t>400–600 tok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05993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Inter"/>
              </a:rPr>
              <a:t>GitHub commit msg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059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one 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405993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2D3EE"/>
                </a:solidFill>
                <a:latin typeface="JetBrains Mono"/>
              </a:rPr>
              <a:t>≤ 400 tok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4343400"/>
            <a:ext cx="5440680" cy="347472"/>
          </a:xfrm>
          <a:prstGeom prst="rect">
            <a:avLst/>
          </a:prstGeom>
          <a:solidFill>
            <a:srgbClr val="172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80760" y="44074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Inter"/>
              </a:rPr>
              <a:t>GitHub commit files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44074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bundled file list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44074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2D3EE"/>
                </a:solidFill>
                <a:latin typeface="JetBrains Mono"/>
              </a:rPr>
              <a:t>≤ 400 tok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47548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Inter"/>
              </a:rPr>
              <a:t>GitHub PR body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754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paragraph split + overlap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4754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2D3EE"/>
                </a:solidFill>
                <a:latin typeface="JetBrains Mono"/>
              </a:rPr>
              <a:t>500 tok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5038344"/>
            <a:ext cx="5440680" cy="347472"/>
          </a:xfrm>
          <a:prstGeom prst="rect">
            <a:avLst/>
          </a:prstGeom>
          <a:solidFill>
            <a:srgbClr val="172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80760" y="51023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Inter"/>
              </a:rPr>
              <a:t>GitHub PR reviews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51023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grouped or single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51023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2D3EE"/>
                </a:solidFill>
                <a:latin typeface="JetBrains Mono"/>
              </a:rPr>
              <a:t>600 / 200 tok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544982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8FAFC"/>
                </a:solidFill>
                <a:latin typeface="Inter"/>
              </a:rPr>
              <a:t>GitHub issue body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54498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Inter"/>
              </a:rPr>
              <a:t>same as Jira description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54498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2D3EE"/>
                </a:solidFill>
                <a:latin typeface="JetBrains Mono"/>
              </a:rPr>
              <a:t>500 tok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14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MONGODB ATLAS · ISOLATED PARTITIONS PER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Vector Store Layout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131D44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577840" cy="73152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Montserrat"/>
              </a:rPr>
              <a:t>rag_chunks  (Jira)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JetBrains Mono"/>
              </a:rPr>
              <a:t>vector_index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B1026"/>
                </a:solidFill>
                <a:latin typeface="Montserrat"/>
              </a:rPr>
              <a:t>cosine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27432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B1026"/>
                </a:solidFill>
                <a:latin typeface="Montserrat"/>
              </a:rPr>
              <a:t>1536d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27432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B1026"/>
                </a:solidFill>
                <a:latin typeface="Montserrat"/>
              </a:rPr>
              <a:t>ANN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94A3B8"/>
                </a:solidFill>
                <a:latin typeface="Montserrat"/>
              </a:rPr>
              <a:t>SAMPLE DOCUMENT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2044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0B1026"/>
          </a:solidFill>
          <a:ln w="6350">
            <a:solidFill>
              <a:srgbClr val="2E3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611880"/>
            <a:ext cx="48463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_id:        &lt;sha256 chunk id&gt;,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ticketKey:  'PROJ-123',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sourceType: 'description',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text:       '…',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embedding:  [0.001, 0.024, …],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metadata: {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  summary:  '…',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  status:   'In Progress',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  labels:   ['backend'],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  updatedAt: '2026-04-21T…'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}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131D44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828800"/>
            <a:ext cx="5577840" cy="73152"/>
          </a:xfrm>
          <a:prstGeom prst="rect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0116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Montserrat"/>
              </a:rPr>
              <a:t>rag_chunks_github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774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JetBrains Mono"/>
              </a:rPr>
              <a:t>vector_index_github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7432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B1026"/>
                </a:solidFill>
                <a:latin typeface="Montserrat"/>
              </a:rPr>
              <a:t>cosine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27432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B1026"/>
                </a:solidFill>
                <a:latin typeface="Montserrat"/>
              </a:rPr>
              <a:t>1536d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74320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0B1026"/>
                </a:solidFill>
                <a:latin typeface="Montserrat"/>
              </a:rPr>
              <a:t>ANN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2461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94A3B8"/>
                </a:solidFill>
                <a:latin typeface="Montserrat"/>
              </a:rPr>
              <a:t>SAMPLE DOCUMENT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352044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0B1026"/>
          </a:solidFill>
          <a:ln w="6350">
            <a:solidFill>
              <a:srgbClr val="2E3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611880"/>
            <a:ext cx="484632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_id:         &lt;sha256 chunk id&gt;,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entityKey:   'pr:42',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entityType:  'pullRequest',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repoFullName:'owner/name',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sourceType:  'body',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text:        '…',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embedding:   [0.001, …],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metadata: {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  branches:   ['main'],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  filePaths:  ['src/auth.ts'],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  prNumber:   42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  }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JetBrains Mono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15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ANSWERING A DEVELOPER'S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Retrieval / RAG Lifecycle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237744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377440"/>
            <a:ext cx="196596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vs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42032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3099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Client / 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74136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POST /retrieve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37744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51760" y="2377440"/>
            <a:ext cx="196596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PI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542032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3099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API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374136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HTTP API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8880" y="3086100"/>
            <a:ext cx="182880" cy="0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00600" y="237744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00600" y="2377440"/>
            <a:ext cx="1965960" cy="38100"/>
          </a:xfrm>
          <a:prstGeom prst="rect">
            <a:avLst/>
          </a:prstGeom>
          <a:gradFill flip="none" rotWithShape="1">
            <a:gsLst>
              <a:gs pos="0">
                <a:srgbClr val="2DD4BF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Lamb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542032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92040" y="3099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Retrieve Lambda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374136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handler/retrieve.js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17720" y="3086100"/>
            <a:ext cx="182880" cy="0"/>
          </a:xfrm>
          <a:prstGeom prst="line">
            <a:avLst/>
          </a:prstGeom>
          <a:ln w="22225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49440" y="237744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0" y="2377440"/>
            <a:ext cx="1965960" cy="38100"/>
          </a:xfrm>
          <a:prstGeom prst="rect">
            <a:avLst/>
          </a:prstGeom>
          <a:gradFill flip="none" rotWithShape="1">
            <a:gsLst>
              <a:gs pos="0">
                <a:srgbClr val="2DD4BF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open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542032"/>
            <a:ext cx="502920" cy="502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40880" y="3099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Embedder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374136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1536-dim query vector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66560" y="3086100"/>
            <a:ext cx="182880" cy="0"/>
          </a:xfrm>
          <a:prstGeom prst="line">
            <a:avLst/>
          </a:prstGeom>
          <a:ln w="22225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572000" y="4480560"/>
            <a:ext cx="2103120" cy="10972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0" y="4480560"/>
            <a:ext cx="210312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mongo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100" y="4645152"/>
            <a:ext cx="502920" cy="502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663440" y="52029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Jira vectors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47725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rag_chunks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4480560"/>
            <a:ext cx="2103120" cy="10972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40880" y="4480560"/>
            <a:ext cx="2103120" cy="38100"/>
          </a:xfrm>
          <a:prstGeom prst="rect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mongo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4645152"/>
            <a:ext cx="502920" cy="5029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132320" y="52029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GitHub vectors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47725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rag_chunks_github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5623560" y="3794760"/>
            <a:ext cx="2308860" cy="685800"/>
          </a:xfrm>
          <a:prstGeom prst="line">
            <a:avLst/>
          </a:prstGeom>
          <a:ln w="2222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932420" y="3794760"/>
            <a:ext cx="160020" cy="685800"/>
          </a:xfrm>
          <a:prstGeom prst="line">
            <a:avLst/>
          </a:prstGeom>
          <a:ln w="2222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418320" y="4480560"/>
            <a:ext cx="2194560" cy="1097280"/>
          </a:xfrm>
          <a:prstGeom prst="roundRect">
            <a:avLst>
              <a:gd name="adj" fmla="val 12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418320" y="4480560"/>
            <a:ext cx="2194560" cy="38100"/>
          </a:xfrm>
          <a:prstGeom prst="rect">
            <a:avLst/>
          </a:prstGeom>
          <a:gradFill flip="none" rotWithShape="1">
            <a:gsLst>
              <a:gs pos="0">
                <a:srgbClr val="FBBF24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nodej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40" y="4645152"/>
            <a:ext cx="502920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509760" y="520293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8FAFC"/>
                </a:solidFill>
                <a:latin typeface="Montserrat"/>
              </a:rPr>
              <a:t>Score merge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547725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JetBrains Mono"/>
              </a:rPr>
              <a:t>sort · clamp topK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75120" y="5029200"/>
            <a:ext cx="2743200" cy="0"/>
          </a:xfrm>
          <a:prstGeom prst="line">
            <a:avLst/>
          </a:prstGeom>
          <a:ln w="22225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44000" y="5029200"/>
            <a:ext cx="274320" cy="0"/>
          </a:xfrm>
          <a:prstGeom prst="line">
            <a:avLst/>
          </a:prstGeom>
          <a:ln w="22225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418320" y="2377440"/>
            <a:ext cx="2194560" cy="141732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509760" y="24688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4D399"/>
                </a:solidFill>
                <a:latin typeface="Montserrat"/>
              </a:rPr>
              <a:t>RESPONSE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74320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Top-K ranked chunks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with scores,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cross-source context,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and source links.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10515600" y="3794760"/>
            <a:ext cx="0" cy="685800"/>
          </a:xfrm>
          <a:prstGeom prst="line">
            <a:avLst/>
          </a:prstGeom>
          <a:ln w="2222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Inter"/>
              </a:rPr>
              <a:t>Source=both runs the two searches in parallel, merges by score, and returns the global top-K.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16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What is 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26880" y="50292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0" y="5029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0B1026"/>
                </a:solidFill>
                <a:latin typeface="Montserrat"/>
              </a:rPr>
              <a:t>COMPLETED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210312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195681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System architecture designed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4028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Inter"/>
              </a:rPr>
              <a:t>Five-layer cloud-hosted agentic framework with ingestion, extraction, reasoning, orchestration and IDE layers.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55080" y="210312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95681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Artifact ingestion — Jira / Confluence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4028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Inter"/>
              </a:rPr>
              <a:t>Streams issues, comments, attachments, remote-linked Confluence pages with retry + pagination.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92608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320040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05409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Artifact ingestion — 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33756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Inter"/>
              </a:rPr>
              <a:t>Pulls commits, pull requests and issues across active branches via REST + GraphQL.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92608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55080" y="320040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305409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Normalization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33756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Inter"/>
              </a:rPr>
              <a:t>Heterogeneous payloads → unified ticket / entity shape ready for downstream processing.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02336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429768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Semantic chunking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43484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Inter"/>
              </a:rPr>
              <a:t>Source-aware splitter with deterministic SHA chunk IDs — safe to re-run.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02336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355080" y="429768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415137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Embedding + vector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43484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 dirty="0">
                <a:solidFill>
                  <a:srgbClr val="CBD5E1"/>
                </a:solidFill>
                <a:latin typeface="Inter"/>
              </a:rPr>
              <a:t>OpenAI text-embedding-3-small → MongoDB Atlas vector search, two isolated collections.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12064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0080" y="539496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524865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Ticket ↔ commit linkage (v1)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53212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Inter"/>
              </a:rPr>
              <a:t>Metadata + embedding similarity gives a working first-pass correlation.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120640"/>
            <a:ext cx="5532120" cy="96012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355080" y="539496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20840" y="524865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Montserrat"/>
              </a:rPr>
              <a:t>Ops infra: locks, checkpoints, CLI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553212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CBD5E1"/>
                </a:solidFill>
                <a:latin typeface="Inter"/>
              </a:rPr>
              <a:t>Redis-backed per-source state, distributed lock, and a local CLI that reuses Lambda handlers.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Inter"/>
              </a:rPr>
              <a:t>This covers the Requirement Analysis, Architecture Design, and Prototype Phase I milestones from the plan of work.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17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IN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In Progress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26880" y="50292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0" y="5029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0B1026"/>
                </a:solidFill>
                <a:latin typeface="Montserrat"/>
              </a:rPr>
              <a:t>IN 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5532120" cy="128016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210312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195681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Semantic linking refinement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4028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Tuning how requirements and code changes are associated when no ticket ID is present.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532120" cy="128016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55080" y="210312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95681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Hybrid metadata + vector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4028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Combining explicit signals (ticket IDs, file paths) with embedding similarity for robustness.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46120"/>
            <a:ext cx="5532120" cy="128016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352044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37413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Handling complex / indirect relationships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6576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Improving recall when multiple commits contribute to one requirement.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46120"/>
            <a:ext cx="5532120" cy="128016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55080" y="352044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337413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Retrieval quality tuning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6576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Adjusting topK, filters and cross-source merging to surface the most useful chunks.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18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Pending / Next Phase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26880" y="502920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0" y="5029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0B1026"/>
                </a:solidFill>
                <a:latin typeface="Montserrat"/>
              </a:rPr>
              <a:t>PENDING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2880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210312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195681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Semantic reasoning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4028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LLM workflows that interpret requirements and generate 'why' explanations for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55080" y="210312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95681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Deep intent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4028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Multi-artifact reasoning that handles indirect dependencies and chains of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0896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338328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323697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Full multi-agent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52044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Traceability, Code-Intent, Reproduction and Validation agents with task decomposition + synthesis.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0896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55080" y="338328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323697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IDE plugin / extension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52044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Inline UI for intent explanations, traceability links, and reproduction guidance.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38912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466344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51713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Issue reproduction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80060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Automated generation of steps to recreate a reported defect from available artifacts.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8912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355080" y="4663440"/>
            <a:ext cx="164592" cy="5943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4517136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Montserrat"/>
              </a:rPr>
              <a:t>Validation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80060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dirty="0">
                <a:solidFill>
                  <a:srgbClr val="CBD5E1"/>
                </a:solidFill>
                <a:latin typeface="Inter"/>
              </a:rPr>
              <a:t>Reasoning over whether a proposed fix actually resolves the original requirement.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88259"/>
            <a:ext cx="12290612" cy="7046259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19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TIMELINE AND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Plan of Work  ·  Jan – 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23099" y="1600200"/>
            <a:ext cx="6858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spc="200" dirty="0">
                <a:solidFill>
                  <a:srgbClr val="94A3B8"/>
                </a:solidFill>
                <a:latin typeface="JetBrains Mono"/>
              </a:rPr>
              <a:t>JAN        </a:t>
            </a:r>
            <a:r>
              <a:rPr lang="en-US" sz="1000" b="0" i="0" spc="200" dirty="0">
                <a:solidFill>
                  <a:srgbClr val="94A3B8"/>
                </a:solidFill>
                <a:latin typeface="JetBrains Mono"/>
              </a:rPr>
              <a:t>   </a:t>
            </a:r>
            <a:r>
              <a:rPr sz="1000" b="0" i="0" spc="200" dirty="0">
                <a:solidFill>
                  <a:srgbClr val="94A3B8"/>
                </a:solidFill>
                <a:latin typeface="JetBrains Mono"/>
              </a:rPr>
              <a:t>FEB        </a:t>
            </a:r>
            <a:r>
              <a:rPr lang="en-US" sz="1000" b="0" i="0" spc="200" dirty="0">
                <a:solidFill>
                  <a:srgbClr val="94A3B8"/>
                </a:solidFill>
                <a:latin typeface="JetBrains Mono"/>
              </a:rPr>
              <a:t>     </a:t>
            </a:r>
            <a:r>
              <a:rPr sz="1000" b="0" i="0" spc="200" dirty="0">
                <a:solidFill>
                  <a:srgbClr val="94A3B8"/>
                </a:solidFill>
                <a:latin typeface="JetBrains Mono"/>
              </a:rPr>
              <a:t>MAR    </a:t>
            </a:r>
            <a:r>
              <a:rPr lang="en-US" sz="1000" b="0" i="0" spc="200" dirty="0">
                <a:solidFill>
                  <a:srgbClr val="94A3B8"/>
                </a:solidFill>
                <a:latin typeface="JetBrains Mono"/>
              </a:rPr>
              <a:t>            </a:t>
            </a:r>
            <a:r>
              <a:rPr sz="1000" b="0" i="0" spc="200" dirty="0">
                <a:solidFill>
                  <a:srgbClr val="94A3B8"/>
                </a:solidFill>
                <a:latin typeface="JetBrains Mono"/>
              </a:rPr>
              <a:t> APR   </a:t>
            </a:r>
            <a:r>
              <a:rPr lang="en-US" sz="1000" b="0" i="0" spc="200" dirty="0">
                <a:solidFill>
                  <a:srgbClr val="94A3B8"/>
                </a:solidFill>
                <a:latin typeface="JetBrains Mono"/>
              </a:rPr>
              <a:t>             </a:t>
            </a:r>
            <a:r>
              <a:rPr sz="1000" b="0" i="0" spc="200" dirty="0">
                <a:solidFill>
                  <a:srgbClr val="94A3B8"/>
                </a:solidFill>
                <a:latin typeface="JetBrains Mono"/>
              </a:rPr>
              <a:t>MAY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828800"/>
            <a:ext cx="685800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1828800"/>
            <a:ext cx="9525" cy="3840480"/>
          </a:xfrm>
          <a:prstGeom prst="rect">
            <a:avLst/>
          </a:prstGeom>
          <a:solidFill>
            <a:srgbClr val="1B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9525" cy="3840480"/>
          </a:xfrm>
          <a:prstGeom prst="rect">
            <a:avLst/>
          </a:prstGeom>
          <a:solidFill>
            <a:srgbClr val="1B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06640" y="1828800"/>
            <a:ext cx="9525" cy="3840480"/>
          </a:xfrm>
          <a:prstGeom prst="rect">
            <a:avLst/>
          </a:prstGeom>
          <a:solidFill>
            <a:srgbClr val="1B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78240" y="1828800"/>
            <a:ext cx="9525" cy="3840480"/>
          </a:xfrm>
          <a:prstGeom prst="rect">
            <a:avLst/>
          </a:prstGeom>
          <a:solidFill>
            <a:srgbClr val="1B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149840" y="1828800"/>
            <a:ext cx="9525" cy="3840480"/>
          </a:xfrm>
          <a:prstGeom prst="rect">
            <a:avLst/>
          </a:prstGeom>
          <a:solidFill>
            <a:srgbClr val="1B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521440" y="1828800"/>
            <a:ext cx="9525" cy="3840480"/>
          </a:xfrm>
          <a:prstGeom prst="rect">
            <a:avLst/>
          </a:prstGeom>
          <a:solidFill>
            <a:srgbClr val="1B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192024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Montserrat"/>
              </a:rPr>
              <a:t>Dissertation Outline &amp; 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139696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</a:rPr>
              <a:t>20 Jan – 07 Feb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1956816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700" b="1" dirty="0">
                <a:solidFill>
                  <a:srgbClr val="0B1026"/>
                </a:solidFill>
                <a:latin typeface="Montserrat"/>
              </a:rPr>
              <a:t>DONE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920240"/>
            <a:ext cx="891540" cy="310896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35915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Montserrat"/>
              </a:rPr>
              <a:t>Requirement Analysis &amp;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57860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</a:rPr>
              <a:t>08 Feb – 28 Feb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2395728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700" b="1" dirty="0">
                <a:solidFill>
                  <a:srgbClr val="0B1026"/>
                </a:solidFill>
                <a:latin typeface="Montserrat"/>
              </a:rPr>
              <a:t>DONE</a:t>
            </a:r>
            <a:endParaRPr sz="1000" b="1" dirty="0">
              <a:solidFill>
                <a:srgbClr val="0B1026"/>
              </a:solidFill>
              <a:latin typeface="Montserrat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554980" y="2359152"/>
            <a:ext cx="1303020" cy="310896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502920" y="27980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Montserrat"/>
              </a:rPr>
              <a:t>Prototype I — Artifact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01752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</a:rPr>
              <a:t>01 Mar – 20 Mar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69080" y="283464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700" b="1" dirty="0">
                <a:solidFill>
                  <a:srgbClr val="0B1026"/>
                </a:solidFill>
                <a:latin typeface="Montserrat"/>
              </a:rPr>
              <a:t>DONE</a:t>
            </a:r>
            <a:endParaRPr sz="1000" b="1" dirty="0">
              <a:solidFill>
                <a:srgbClr val="0B1026"/>
              </a:solidFill>
              <a:latin typeface="Montserrat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858000" y="2798064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23697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Montserrat"/>
              </a:rPr>
              <a:t>Midterm Report Preparation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456432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</a:rPr>
              <a:t>21 Mar – 28 Mar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236976"/>
            <a:ext cx="548639" cy="310896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6758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Montserrat"/>
              </a:rPr>
              <a:t>Prototype II — Agentic Reasoning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895344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</a:rPr>
              <a:t>29 Mar – 20 Apr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41079" y="3675888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11480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Montserrat"/>
              </a:rPr>
              <a:t>Testing, Validation &amp; 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334256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</a:rPr>
              <a:t>21 Apr – 05 May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4114800"/>
            <a:ext cx="822960" cy="310896"/>
          </a:xfrm>
          <a:prstGeom prst="roundRect">
            <a:avLst>
              <a:gd name="adj" fmla="val 3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55371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Montserrat"/>
              </a:rPr>
              <a:t>Final Dissertation Writing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77316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</a:rPr>
              <a:t>06 May – 11 May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69080" y="4590288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800" b="1" dirty="0">
                <a:solidFill>
                  <a:srgbClr val="0B1026"/>
                </a:solidFill>
                <a:latin typeface="Montserrat"/>
              </a:rPr>
              <a:t>NEXT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98480" y="4553712"/>
            <a:ext cx="685799" cy="310896"/>
          </a:xfrm>
          <a:prstGeom prst="roundRect">
            <a:avLst>
              <a:gd name="adj" fmla="val 3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99262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8FAFC"/>
                </a:solidFill>
                <a:latin typeface="Montserrat"/>
              </a:rPr>
              <a:t>Final Submission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21208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</a:rPr>
              <a:t>12 May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69080" y="502920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800" b="1" dirty="0">
                <a:solidFill>
                  <a:srgbClr val="0B1026"/>
                </a:solidFill>
                <a:latin typeface="Montserrat"/>
              </a:rPr>
              <a:t>NEXT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384280" y="4992624"/>
            <a:ext cx="137160" cy="310896"/>
          </a:xfrm>
          <a:prstGeom prst="roundRect">
            <a:avLst>
              <a:gd name="adj" fmla="val 3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502395" y="1951464"/>
            <a:ext cx="19050" cy="3840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18320" y="571500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22D3EE"/>
                </a:solidFill>
                <a:latin typeface="Montserrat"/>
              </a:rPr>
              <a:t>TODAY</a:t>
            </a:r>
          </a:p>
        </p:txBody>
      </p:sp>
      <p:sp>
        <p:nvSpPr>
          <p:cNvPr id="52" name="Oval 51"/>
          <p:cNvSpPr/>
          <p:nvPr/>
        </p:nvSpPr>
        <p:spPr>
          <a:xfrm>
            <a:off x="502920" y="5989320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" y="5989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Done</a:t>
            </a:r>
          </a:p>
        </p:txBody>
      </p:sp>
      <p:sp>
        <p:nvSpPr>
          <p:cNvPr id="54" name="Oval 53"/>
          <p:cNvSpPr/>
          <p:nvPr/>
        </p:nvSpPr>
        <p:spPr>
          <a:xfrm>
            <a:off x="2057400" y="5989320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331720" y="5989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In progress</a:t>
            </a:r>
          </a:p>
        </p:txBody>
      </p:sp>
      <p:sp>
        <p:nvSpPr>
          <p:cNvPr id="56" name="Oval 55"/>
          <p:cNvSpPr/>
          <p:nvPr/>
        </p:nvSpPr>
        <p:spPr>
          <a:xfrm>
            <a:off x="3611880" y="5989320"/>
            <a:ext cx="201168" cy="20116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886200" y="598932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Inter"/>
              </a:rPr>
              <a:t>Pending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E948261E-B3FF-348E-A6ED-3BB395696F3D}"/>
              </a:ext>
            </a:extLst>
          </p:cNvPr>
          <p:cNvSpPr/>
          <p:nvPr/>
        </p:nvSpPr>
        <p:spPr>
          <a:xfrm>
            <a:off x="4069080" y="3287486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800" b="1" dirty="0">
                <a:solidFill>
                  <a:srgbClr val="0B1026"/>
                </a:solidFill>
                <a:latin typeface="Montserrat"/>
              </a:rPr>
              <a:t>NOW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AC0EFF49-1F9D-3626-8126-0B5F6CC54A91}"/>
              </a:ext>
            </a:extLst>
          </p:cNvPr>
          <p:cNvSpPr/>
          <p:nvPr/>
        </p:nvSpPr>
        <p:spPr>
          <a:xfrm>
            <a:off x="4069080" y="4151376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800" b="1" dirty="0">
                <a:solidFill>
                  <a:srgbClr val="0B1026"/>
                </a:solidFill>
                <a:latin typeface="Montserrat"/>
              </a:rPr>
              <a:t>NEXT</a:t>
            </a:r>
            <a:endParaRPr sz="1000" b="1" dirty="0">
              <a:solidFill>
                <a:srgbClr val="0B1026"/>
              </a:solidFill>
              <a:latin typeface="Montserrat"/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CEA8D5C-BACE-80B1-FAE2-7D553565BCE4}"/>
              </a:ext>
            </a:extLst>
          </p:cNvPr>
          <p:cNvSpPr/>
          <p:nvPr/>
        </p:nvSpPr>
        <p:spPr>
          <a:xfrm>
            <a:off x="4070425" y="371246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800" b="1" dirty="0">
                <a:solidFill>
                  <a:srgbClr val="0B1026"/>
                </a:solidFill>
                <a:latin typeface="Montserrat"/>
              </a:rPr>
              <a:t>NEXT</a:t>
            </a:r>
            <a:endParaRPr sz="1000" b="1" dirty="0">
              <a:solidFill>
                <a:srgbClr val="0B1026"/>
              </a:solidFill>
              <a:latin typeface="Montserrat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B2FC992-6785-47A9-D264-F494DEFD6C6F}"/>
              </a:ext>
            </a:extLst>
          </p:cNvPr>
          <p:cNvSpPr/>
          <p:nvPr/>
        </p:nvSpPr>
        <p:spPr>
          <a:xfrm>
            <a:off x="8081682" y="3228213"/>
            <a:ext cx="558636" cy="319659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1ED08B47-FE4C-E8CB-A074-DC3DB1574070}"/>
              </a:ext>
            </a:extLst>
          </p:cNvPr>
          <p:cNvSpPr/>
          <p:nvPr/>
        </p:nvSpPr>
        <p:spPr>
          <a:xfrm>
            <a:off x="8640317" y="3675888"/>
            <a:ext cx="1234439" cy="301371"/>
          </a:xfrm>
          <a:prstGeom prst="roundRect">
            <a:avLst>
              <a:gd name="adj" fmla="val 3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20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WHAT THE MIDTERM PROTOTYPE ALREADY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Preliminary Observations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3767328" cy="214884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3767328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Unified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331012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Jira and GitHub artifacts now live in a single pipeline — no more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multi-tool swivel-chair just to find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1737360"/>
            <a:ext cx="3767328" cy="214884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53128" y="1737360"/>
            <a:ext cx="3767328" cy="38100"/>
          </a:xfrm>
          <a:prstGeom prst="rect">
            <a:avLst/>
          </a:prstGeom>
          <a:gradFill flip="none" rotWithShape="1">
            <a:gsLst>
              <a:gs pos="0">
                <a:srgbClr val="A78BFA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7448" y="2011680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Better than keyword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514600"/>
            <a:ext cx="331012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Vector embeddings retrieve related commits even when the ticket ID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is not referenced in the commit message.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03336" y="1737360"/>
            <a:ext cx="3767328" cy="214884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03336" y="1737360"/>
            <a:ext cx="3767328" cy="38100"/>
          </a:xfrm>
          <a:prstGeom prst="rect">
            <a:avLst/>
          </a:prstGeom>
          <a:gradFill flip="none" rotWithShape="1">
            <a:gsLst>
              <a:gs pos="0">
                <a:srgbClr val="2DD4BF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77656" y="2011680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Structured knowledge substrate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7656" y="2514600"/>
            <a:ext cx="331012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Raw artifacts become normalized, chunked, embedded documents —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ready for downstream LLM reasoning.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78024" y="4023360"/>
            <a:ext cx="3767328" cy="214884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478024" y="4023360"/>
            <a:ext cx="3767328" cy="38100"/>
          </a:xfrm>
          <a:prstGeom prst="rect">
            <a:avLst/>
          </a:prstGeom>
          <a:gradFill flip="none" rotWithShape="1">
            <a:gsLst>
              <a:gs pos="0">
                <a:srgbClr val="34D399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52344" y="4297680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Idempotent, crash-safe 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52344" y="4800600"/>
            <a:ext cx="331012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Deterministic chunk IDs + delete-then-insert make ingestion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safe to re-run without duplicating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8232" y="4023360"/>
            <a:ext cx="3767328" cy="2148840"/>
          </a:xfrm>
          <a:prstGeom prst="roundRect">
            <a:avLst>
              <a:gd name="adj" fmla="val 10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28232" y="4023360"/>
            <a:ext cx="3767328" cy="38100"/>
          </a:xfrm>
          <a:prstGeom prst="rect">
            <a:avLst/>
          </a:prstGeom>
          <a:gradFill flip="none" rotWithShape="1">
            <a:gsLst>
              <a:gs pos="0">
                <a:srgbClr val="FBBF24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02552" y="4297680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Montserrat"/>
              </a:rPr>
              <a:t>Quality is bounded by artifact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4800600"/>
            <a:ext cx="3310128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Clear tickets + descriptive commit messages materially improve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retrieval relevance. Noise hurts.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21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THE HARD PARTS OF RECONSTRUCTING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Challenges Encountered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026"/>
                </a:solidFill>
                <a:latin typeface="Montserrat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075688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Montserrat"/>
              </a:rPr>
              <a:t>NL ↔ code semantic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60320"/>
            <a:ext cx="43891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Requirements are high-level and informal; code is low-level and precise. Bridging the two needs more than keyword or shallow-similarity matching.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026"/>
                </a:solidFill>
                <a:latin typeface="Montserrat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075688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Montserrat"/>
              </a:rPr>
              <a:t>Noisy, inconsistent artifacts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560320"/>
            <a:ext cx="43891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Commits with 'minor fix' messages, vague ticket descriptions and ad-hoc documentation practices reduce the signal our embeddings can capture.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96512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4370832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3708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026"/>
                </a:solidFill>
                <a:latin typeface="Montserrat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891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Montserrat"/>
              </a:rPr>
              <a:t>Incomplete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873752"/>
            <a:ext cx="43891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Commits often don't reference ticket IDs. One requirement can span many commits; one commit can address many tickets. Explicit links are rare.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96512"/>
            <a:ext cx="5532120" cy="214884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92240" y="4370832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3708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0B1026"/>
                </a:solidFill>
                <a:latin typeface="Montserrat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3891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Montserrat"/>
              </a:rPr>
              <a:t>Heterogeneous data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873752"/>
            <a:ext cx="43891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BD5E1"/>
                </a:solidFill>
                <a:latin typeface="Inter"/>
              </a:rPr>
              <a:t>Each platform has its own schema, pagination quirks and rate limits. Normalising across them while preserving meaning is non-trivial.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B1026"/>
              </a:gs>
              <a:gs pos="100000">
                <a:srgbClr val="111B3F"/>
              </a:gs>
            </a:gsLst>
            <a:lin ang="27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2E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IntentEra  ·  Midterm Review  ·  Aarya Nanndaann Singh M N (2024MT03013)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JetBrains Mono"/>
              </a:rPr>
              <a:t>22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Montserrat"/>
              </a:rPr>
              <a:t>WHERE WE ARE · WHERE WE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Montserrat"/>
              </a:rPr>
              <a:t>Conclusion &amp; Next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011680" cy="38100"/>
          </a:xfrm>
          <a:prstGeom prst="rect">
            <a:avLst/>
          </a:prstGeom>
          <a:gradFill flip="none" rotWithShape="1">
            <a:gsLst>
              <a:gs pos="0">
                <a:srgbClr val="22D3EE"/>
              </a:gs>
              <a:gs pos="100000">
                <a:srgbClr val="6366F1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6583680" cy="3840480"/>
          </a:xfrm>
          <a:prstGeom prst="roundRect">
            <a:avLst>
              <a:gd name="adj" fmla="val 8000"/>
            </a:avLst>
          </a:prstGeom>
          <a:solidFill>
            <a:srgbClr val="17234A"/>
          </a:solidFill>
          <a:ln w="9525">
            <a:solidFill>
              <a:srgbClr val="2E3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Montserrat"/>
              </a:rPr>
              <a:t>MIDTERM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8FAFC"/>
                </a:solidFill>
                <a:latin typeface="Montserrat"/>
              </a:rPr>
              <a:t>We built the foundations of an intent-aware developer tool.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60350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>
                <a:solidFill>
                  <a:srgbClr val="CBD5E1"/>
                </a:solidFill>
                <a:latin typeface="Inter"/>
              </a:rPr>
              <a:t>Ingestion pipelines for Jira, Confluence and GitHub are live.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>
                <a:solidFill>
                  <a:srgbClr val="CBD5E1"/>
                </a:solidFill>
                <a:latin typeface="Inter"/>
              </a:rPr>
              <a:t>Artifacts are normalized, chunked, embedded and stored.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>
                <a:solidFill>
                  <a:srgbClr val="CBD5E1"/>
                </a:solidFill>
                <a:latin typeface="Inter"/>
              </a:rPr>
              <a:t>A RAG-style retrieval API answers cross-source semantic queries.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>
                <a:solidFill>
                  <a:srgbClr val="CBD5E1"/>
                </a:solidFill>
                <a:latin typeface="Inter"/>
              </a:rPr>
              <a:t>Redis-backed state makes runs resumable, locked and crash-safe.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22D3EE"/>
                </a:solidFill>
                <a:latin typeface="Inter"/>
              </a:rPr>
              <a:t>▸  </a:t>
            </a:r>
            <a:r>
              <a:rPr sz="1300">
                <a:solidFill>
                  <a:srgbClr val="CBD5E1"/>
                </a:solidFill>
                <a:latin typeface="Inter"/>
              </a:rPr>
              <a:t>Architecture is cloud-native (AWS Lambda + VPC + Atlas).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783080"/>
            <a:ext cx="4343400" cy="3840480"/>
          </a:xfrm>
          <a:prstGeom prst="roundRect">
            <a:avLst>
              <a:gd name="adj" fmla="val 8000"/>
            </a:avLst>
          </a:prstGeom>
          <a:solidFill>
            <a:srgbClr val="1A1644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9202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A78BFA"/>
                </a:solidFill>
                <a:latin typeface="Montserrat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4028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8FAFC"/>
                </a:solidFill>
                <a:latin typeface="Montserrat"/>
              </a:rPr>
              <a:t>Reason · Orchestrate · Deliver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971800"/>
            <a:ext cx="393192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 </a:t>
            </a:r>
            <a:r>
              <a:rPr sz="1300">
                <a:solidFill>
                  <a:srgbClr val="CBD5E1"/>
                </a:solidFill>
                <a:latin typeface="Inter"/>
              </a:rPr>
              <a:t>Semantic reasoning with LLMs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 </a:t>
            </a:r>
            <a:r>
              <a:rPr sz="1300">
                <a:solidFill>
                  <a:srgbClr val="CBD5E1"/>
                </a:solidFill>
                <a:latin typeface="Inter"/>
              </a:rPr>
              <a:t>Traceability &amp; Code-Intent agents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 </a:t>
            </a:r>
            <a:r>
              <a:rPr sz="1300">
                <a:solidFill>
                  <a:srgbClr val="CBD5E1"/>
                </a:solidFill>
                <a:latin typeface="Inter"/>
              </a:rPr>
              <a:t>Reproduction + validation agents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 </a:t>
            </a:r>
            <a:r>
              <a:rPr sz="1300">
                <a:solidFill>
                  <a:srgbClr val="CBD5E1"/>
                </a:solidFill>
                <a:latin typeface="Inter"/>
              </a:rPr>
              <a:t>IDE plugin delivering inline context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A78BFA"/>
                </a:solidFill>
                <a:latin typeface="Inter"/>
              </a:rPr>
              <a:t>▸  </a:t>
            </a:r>
            <a:r>
              <a:rPr sz="1300">
                <a:solidFill>
                  <a:srgbClr val="CBD5E1"/>
                </a:solidFill>
                <a:latin typeface="Inter"/>
              </a:rPr>
              <a:t>Evaluation on production repos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760720"/>
            <a:ext cx="11201400" cy="685800"/>
          </a:xfrm>
          <a:prstGeom prst="roundRect">
            <a:avLst>
              <a:gd name="adj" fmla="val 30000"/>
            </a:avLst>
          </a:prstGeom>
          <a:gradFill flip="none" rotWithShape="1">
            <a:gsLst>
              <a:gs pos="0">
                <a:srgbClr val="6366F1"/>
              </a:gs>
              <a:gs pos="50000">
                <a:srgbClr val="A78BFA"/>
              </a:gs>
              <a:gs pos="100000">
                <a:srgbClr val="22D3EE"/>
              </a:gs>
            </a:gsLst>
            <a:lin ang="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5760720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ontserrat"/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2611</Words>
  <Application>Microsoft Macintosh PowerPoint</Application>
  <PresentationFormat>Widescreen</PresentationFormat>
  <Paragraphs>536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Inter</vt:lpstr>
      <vt:lpstr>JetBrains Mono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Aarya Singh</cp:lastModifiedBy>
  <cp:revision>4</cp:revision>
  <dcterms:created xsi:type="dcterms:W3CDTF">2013-01-27T09:14:16Z</dcterms:created>
  <dcterms:modified xsi:type="dcterms:W3CDTF">2026-04-22T18:03:46Z</dcterms:modified>
  <cp:category/>
</cp:coreProperties>
</file>